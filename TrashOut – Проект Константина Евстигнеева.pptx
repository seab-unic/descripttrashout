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65" r:id="rId3"/>
    <p:sldId id="257" r:id="rId4"/>
    <p:sldId id="258" r:id="rId5"/>
    <p:sldId id="259" r:id="rId6"/>
    <p:sldId id="266" r:id="rId7"/>
    <p:sldId id="263" r:id="rId8"/>
    <p:sldId id="264" r:id="rId9"/>
    <p:sldId id="262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Затраты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AF5-42C0-9653-EA05A41D5A60}"/>
              </c:ext>
            </c:extLst>
          </c:dPt>
          <c:dPt>
            <c:idx val="1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3A-452E-917C-4E53B5DE113C}"/>
              </c:ext>
            </c:extLst>
          </c:dPt>
          <c:cat>
            <c:strRef>
              <c:f>Лист1!$A$2:$A$3</c:f>
              <c:strCache>
                <c:ptCount val="2"/>
                <c:pt idx="0">
                  <c:v>Telegram-бот (хостинг + БД)</c:v>
                </c:pt>
                <c:pt idx="1">
                  <c:v>Аренда облачного сервера (Кемерово)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2500</c:v>
                </c:pt>
                <c:pt idx="1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3A-452E-917C-4E53B5DE11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F2BFB7-F91D-1621-F632-7A79CAB0E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DCF344-0346-8E0A-E573-F971D2B6D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F2F98D-608B-DD22-A036-63F40990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2D920-1D64-F3A1-E359-D57E02CE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C743DC-1950-FDE0-BD4B-D1D300CB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44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015D1-BC75-FAAF-777F-D6B8EFC5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F702D0-8FCC-6D24-2100-5A76592D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7606B6-5053-64F1-F597-3849C9AD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7449CA-3708-D0FC-14E0-34E73E37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0F0789-9A09-3D08-A133-730ED383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18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5D3F61-DC6D-BBCC-26EB-17DF1439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3FAA22-50B6-C2D4-0AF6-9998B098C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A6BEE5-D8A7-7B28-EF9B-BDFBE025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AB8B7A-BACF-D39A-433B-9256DD9DF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C60AFF-E84D-FBFB-2997-EA1B76453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5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6A5ECB-D967-E967-06F5-9DEEEE6B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D376F7-3F4E-16B5-7FA5-57CA32857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0FD536-1155-220E-796D-1BFC1EAB2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FFB3A3-A4BC-0CF8-4520-90C52750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84EE1E-1C7C-8E92-FD74-E190BCABF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202141-B1AC-A752-6D77-A95F0552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34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865AD-C807-0643-DA77-598C5BFF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31191B-2D67-4911-F0F4-ECC10EB32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872247-AE4A-0E48-80B3-B9FA3565A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A11929-DEBF-27D7-49E0-AE8EFA703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C78FB2-46A4-5FF4-2436-11E2335D8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5114C4-E55D-3629-795A-23D662A6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0FBAED-8B73-E4DE-4EE6-9155EDB1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E5609D2-3B20-6853-ED58-F41AF295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586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D1FB6-F200-C71D-0BEE-1C9B48EF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DE0F8A-4CA2-1FA5-ACC4-0ABEA9FD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7A5656-7D46-D09F-47C5-F8DDB88B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6AA2B9-73FB-0BD0-40C0-02E942D5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308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FFBE996-19FE-002F-6993-B951DF7A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7EFC58-AF7D-BACA-66B2-E82B5384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3D6852-00AB-3C62-5CFC-68D03F23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07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96485-07A8-3FA6-6415-57B3EDB3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15926C-8A05-5986-80EA-B021C3E6C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618F95-940E-0038-8109-1325A6B51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202FBC-7463-0E78-FDCE-A8D56917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F91063-F974-E3CE-5083-4B12F55B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5C3842-6BA5-010F-2071-FDAB3E9F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4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79FAB-06F5-AF36-9F45-A4EF9B8F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474E58-F493-4CA5-0D47-7562D0C87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296F99-BE30-36D7-6EF7-ED87423C1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7E6DAB-3125-AF2A-7AC7-3761D152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5CF63C-8BD2-DF43-DEA7-1704B090D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50394F-3376-4B94-0070-2482296B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68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A6C37-518B-F584-EB96-F541F989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0AEC68-E376-07E4-FAFA-9B495FE00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E93F4B-A4DC-4659-C7BC-8DA0A9343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40DE03-CF3F-6F8E-EA7F-8F5FBF2E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E7A3B-CF0E-50A0-BD36-D3ACAC89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86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15EDF0-4F78-0C91-6DFF-B596942B8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48BFDD-F47E-39F5-1718-4E2F3B7C7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E2FE49-E0A0-0DE2-9CC8-06BBB2DD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A94B45-5096-979D-769D-12880CBC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095E6A-053D-CC77-0785-533768CF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71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50732-1908-92B9-FB58-AA4301826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61A56C-5866-2A92-1E51-C4BA8AAA6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56589A-1E0C-464B-B156-089E29DBC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1AE8B-867D-4ABC-BE86-AE9540E29DBF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8BE28D-D270-21AE-2321-EEDB8AB11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57151-04C4-EF28-B39F-B749C34B6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966BC-1A21-4DC8-A497-CCFECAD326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27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1E3F2-BB6F-F7A6-9DD7-61456AF8A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TrashOut</a:t>
            </a:r>
            <a:r>
              <a:rPr lang="en-US" dirty="0"/>
              <a:t> – </a:t>
            </a:r>
            <a:r>
              <a:rPr lang="ru-RU" dirty="0"/>
              <a:t>Проект Константина Евстигнеева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442E37-F609-F809-73EE-6C6F0FD39D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Константин Евстигнеев </a:t>
            </a:r>
            <a:r>
              <a:rPr lang="en-US" dirty="0"/>
              <a:t>||</a:t>
            </a:r>
            <a:r>
              <a:rPr lang="ru-RU" dirty="0"/>
              <a:t> ИИ71</a:t>
            </a:r>
          </a:p>
        </p:txBody>
      </p:sp>
    </p:spTree>
    <p:extLst>
      <p:ext uri="{BB962C8B-B14F-4D97-AF65-F5344CB8AC3E}">
        <p14:creationId xmlns:p14="http://schemas.microsoft.com/office/powerpoint/2010/main" val="114920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2D016-5CA9-45C7-33DE-98D762673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4F2D1E-7E3E-4690-0DA1-6F0B3547E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4347" cy="3026293"/>
          </a:xfrm>
        </p:spPr>
        <p:txBody>
          <a:bodyPr/>
          <a:lstStyle/>
          <a:p>
            <a:r>
              <a:rPr lang="ru-RU" dirty="0"/>
              <a:t>Обеспечение чистоты в подъезде:</a:t>
            </a:r>
          </a:p>
          <a:p>
            <a:r>
              <a:rPr lang="ru-RU" dirty="0"/>
              <a:t>Маломобильные граждане:</a:t>
            </a:r>
          </a:p>
          <a:p>
            <a:r>
              <a:rPr lang="ru-RU" dirty="0"/>
              <a:t>Трудовая занятость подростков:</a:t>
            </a: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93F11DBE-8522-8604-D483-8586124A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6" t="-2779" r="-1046" b="2779"/>
          <a:stretch/>
        </p:blipFill>
        <p:spPr>
          <a:xfrm>
            <a:off x="5174405" y="1479644"/>
            <a:ext cx="6768779" cy="40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4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E2F9D-62DD-AF87-5641-A3729B79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0F87FF-3200-9D05-A649-20C1A99C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1849" cy="4351338"/>
          </a:xfrm>
        </p:spPr>
        <p:txBody>
          <a:bodyPr>
            <a:normAutofit/>
          </a:bodyPr>
          <a:lstStyle/>
          <a:p>
            <a:r>
              <a:rPr lang="ru-RU" dirty="0"/>
              <a:t>Мой проект - платформа в </a:t>
            </a:r>
            <a:r>
              <a:rPr lang="ru-RU" dirty="0" err="1"/>
              <a:t>Telegram</a:t>
            </a:r>
            <a:r>
              <a:rPr lang="ru-RU" dirty="0"/>
              <a:t>, где школьники берут </a:t>
            </a:r>
            <a:r>
              <a:rPr lang="ru-RU" dirty="0" err="1"/>
              <a:t>микрозаказы</a:t>
            </a:r>
            <a:r>
              <a:rPr lang="ru-RU" dirty="0"/>
              <a:t> у соседей на вынос мусора. </a:t>
            </a:r>
          </a:p>
        </p:txBody>
      </p:sp>
      <p:pic>
        <p:nvPicPr>
          <p:cNvPr id="1026" name="Picture 2" descr="Фотографии на тему «Курьер» — скачивайте бесплатные изображения высокого  качества | Freepik">
            <a:extLst>
              <a:ext uri="{FF2B5EF4-FFF2-40B4-BE49-F238E27FC236}">
                <a16:creationId xmlns:a16="http://schemas.microsoft.com/office/drawing/2014/main" id="{1A88A005-64FA-1B2B-AB2D-33FF393CD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049" y="1825625"/>
            <a:ext cx="5178672" cy="344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DC0ACC43-D664-37DC-F57A-33BE00C7D14C}"/>
              </a:ext>
            </a:extLst>
          </p:cNvPr>
          <p:cNvCxnSpPr/>
          <p:nvPr/>
        </p:nvCxnSpPr>
        <p:spPr>
          <a:xfrm flipH="1">
            <a:off x="10151706" y="2911151"/>
            <a:ext cx="774441" cy="667139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C4B62E-D640-75B0-CC08-578C88E86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599" y="2357839"/>
            <a:ext cx="1181265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9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BFEDC-28B4-E922-41A2-3C82CF1F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Экономическая составляющая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A455A7-A12E-2048-801F-C1F182544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85" y="1778972"/>
            <a:ext cx="4033934" cy="2513110"/>
          </a:xfrm>
        </p:spPr>
        <p:txBody>
          <a:bodyPr>
            <a:normAutofit/>
          </a:bodyPr>
          <a:lstStyle/>
          <a:p>
            <a:r>
              <a:rPr lang="ru-RU" dirty="0"/>
              <a:t>Рентабельность обеспечивается низкими затратами на запуск Комиссия 15% покрывает расходы.</a:t>
            </a:r>
          </a:p>
        </p:txBody>
      </p:sp>
      <p:graphicFrame>
        <p:nvGraphicFramePr>
          <p:cNvPr id="27" name="Диаграмма 26">
            <a:extLst>
              <a:ext uri="{FF2B5EF4-FFF2-40B4-BE49-F238E27FC236}">
                <a16:creationId xmlns:a16="http://schemas.microsoft.com/office/drawing/2014/main" id="{CDB57D6C-DF3B-1916-888F-6016B1E65C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8267647"/>
              </p:ext>
            </p:extLst>
          </p:nvPr>
        </p:nvGraphicFramePr>
        <p:xfrm>
          <a:off x="4851919" y="1690688"/>
          <a:ext cx="6391469" cy="5008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4639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4D03F-B279-33E8-9E5B-B186C265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90373-E690-9C53-1B64-35C62D156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ru-RU" dirty="0"/>
              <a:t>Лето - пиковый сезон для сервиса: у школьников каникулы (больше времени для работы), а сезон отпусков и ремонтов увеличивает спрос на вывоз мусора.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2C68A6-18A4-D841-5EE0-44335084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114" y="1825625"/>
            <a:ext cx="4590686" cy="335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0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0D8F9-63A8-40B8-0EA2-2CB5C89B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ИБ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89931-5355-6A6B-AC72-8521DEF5F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089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Мой проект полностью соответствует ФЗ-152, то есть:</a:t>
            </a:r>
          </a:p>
          <a:p>
            <a:pPr>
              <a:buFontTx/>
              <a:buChar char="-"/>
            </a:pPr>
            <a:r>
              <a:rPr lang="ru-RU" dirty="0"/>
              <a:t>Шифрование данных пользователя шифром «Магма»</a:t>
            </a:r>
          </a:p>
          <a:p>
            <a:pPr>
              <a:buFontTx/>
              <a:buChar char="-"/>
            </a:pPr>
            <a:r>
              <a:rPr lang="ru-RU" dirty="0"/>
              <a:t>Баннер с согласием на использование </a:t>
            </a:r>
            <a:r>
              <a:rPr lang="ru-RU" dirty="0" err="1"/>
              <a:t>пдн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000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5F0C1-8D91-CA0D-4C00-010D8D70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Конкурентный анализ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B36DCFB-6536-0286-3BF9-F1EF81959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364018"/>
              </p:ext>
            </p:extLst>
          </p:nvPr>
        </p:nvGraphicFramePr>
        <p:xfrm>
          <a:off x="838199" y="1352939"/>
          <a:ext cx="10890381" cy="51946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66129">
                  <a:extLst>
                    <a:ext uri="{9D8B030D-6E8A-4147-A177-3AD203B41FA5}">
                      <a16:colId xmlns:a16="http://schemas.microsoft.com/office/drawing/2014/main" val="812569972"/>
                    </a:ext>
                  </a:extLst>
                </a:gridCol>
                <a:gridCol w="2256063">
                  <a:extLst>
                    <a:ext uri="{9D8B030D-6E8A-4147-A177-3AD203B41FA5}">
                      <a16:colId xmlns:a16="http://schemas.microsoft.com/office/drawing/2014/main" val="4120129658"/>
                    </a:ext>
                  </a:extLst>
                </a:gridCol>
                <a:gridCol w="2256063">
                  <a:extLst>
                    <a:ext uri="{9D8B030D-6E8A-4147-A177-3AD203B41FA5}">
                      <a16:colId xmlns:a16="http://schemas.microsoft.com/office/drawing/2014/main" val="1201958830"/>
                    </a:ext>
                  </a:extLst>
                </a:gridCol>
                <a:gridCol w="2256063">
                  <a:extLst>
                    <a:ext uri="{9D8B030D-6E8A-4147-A177-3AD203B41FA5}">
                      <a16:colId xmlns:a16="http://schemas.microsoft.com/office/drawing/2014/main" val="3572462965"/>
                    </a:ext>
                  </a:extLst>
                </a:gridCol>
                <a:gridCol w="2256063">
                  <a:extLst>
                    <a:ext uri="{9D8B030D-6E8A-4147-A177-3AD203B41FA5}">
                      <a16:colId xmlns:a16="http://schemas.microsoft.com/office/drawing/2014/main" val="519290226"/>
                    </a:ext>
                  </a:extLst>
                </a:gridCol>
              </a:tblGrid>
              <a:tr h="674838">
                <a:tc>
                  <a:txBody>
                    <a:bodyPr/>
                    <a:lstStyle/>
                    <a:p>
                      <a:r>
                        <a:rPr lang="ru-RU" sz="1800" dirty="0"/>
                        <a:t>Критерий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TrashOut</a:t>
                      </a:r>
                      <a:endParaRPr lang="en-US" sz="18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МусорОФФ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Убиратор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 err="1"/>
                        <a:t>Экологистика</a:t>
                      </a:r>
                      <a:r>
                        <a:rPr lang="ru-RU" sz="1800" dirty="0"/>
                        <a:t> / </a:t>
                      </a:r>
                      <a:r>
                        <a:rPr lang="ru-RU" sz="1800" dirty="0" err="1"/>
                        <a:t>Баласка</a:t>
                      </a:r>
                      <a:endParaRPr lang="ru-RU" sz="1800" dirty="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1201525749"/>
                  </a:ext>
                </a:extLst>
              </a:tr>
              <a:tr h="1137936">
                <a:tc>
                  <a:txBody>
                    <a:bodyPr/>
                    <a:lstStyle/>
                    <a:p>
                      <a:r>
                        <a:rPr lang="ru-RU" sz="1800" b="1"/>
                        <a:t>Тип сервиса</a:t>
                      </a:r>
                      <a:endParaRPr lang="ru-RU" sz="18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Агрегатор </a:t>
                      </a:r>
                      <a:r>
                        <a:rPr lang="ru-RU" sz="1800" dirty="0" err="1"/>
                        <a:t>микрозаказов</a:t>
                      </a:r>
                      <a:r>
                        <a:rPr lang="ru-RU" sz="1800" dirty="0"/>
                        <a:t> в </a:t>
                      </a:r>
                      <a:r>
                        <a:rPr lang="en-US" sz="1800" dirty="0"/>
                        <a:t>Telegram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Вывоз мусора курьерами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B2B/B2C </a:t>
                      </a:r>
                      <a:r>
                        <a:rPr lang="ru-RU" sz="1800"/>
                        <a:t>вывоз отходов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Вывоз крупногабаритного и строительного мусора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909554502"/>
                  </a:ext>
                </a:extLst>
              </a:tr>
              <a:tr h="1078256">
                <a:tc>
                  <a:txBody>
                    <a:bodyPr/>
                    <a:lstStyle/>
                    <a:p>
                      <a:r>
                        <a:rPr lang="ru-RU" sz="1800" b="1" dirty="0"/>
                        <a:t>Целевая аудитория</a:t>
                      </a:r>
                      <a:endParaRPr lang="ru-RU" sz="180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Жители многоквартирных домов (</a:t>
                      </a:r>
                      <a:r>
                        <a:rPr lang="ru-RU" sz="1800" dirty="0" err="1"/>
                        <a:t>микрозаказы</a:t>
                      </a:r>
                      <a:r>
                        <a:rPr lang="ru-RU" sz="1800" dirty="0"/>
                        <a:t>)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Физлица, нуждающиеся в быстром вывозе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Физлица, офисы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Юридические лица, стройки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467197881"/>
                  </a:ext>
                </a:extLst>
              </a:tr>
              <a:tr h="674838">
                <a:tc>
                  <a:txBody>
                    <a:bodyPr/>
                    <a:lstStyle/>
                    <a:p>
                      <a:r>
                        <a:rPr lang="ru-RU" sz="1800" b="1"/>
                        <a:t>Стоимость для клиента</a:t>
                      </a:r>
                      <a:endParaRPr lang="ru-RU" sz="18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Низкая (~100 руб. за пакет)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Средняя (от 300 руб.)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Высокая (от 500 руб.)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Очень высокая (от 1500 руб.)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452242638"/>
                  </a:ext>
                </a:extLst>
              </a:tr>
              <a:tr h="591791">
                <a:tc>
                  <a:txBody>
                    <a:bodyPr/>
                    <a:lstStyle/>
                    <a:p>
                      <a:r>
                        <a:rPr lang="ru-RU" sz="1800" b="1"/>
                        <a:t>Комиссия платформы</a:t>
                      </a:r>
                      <a:endParaRPr lang="ru-RU" sz="18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15% с заказа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Не применимо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Не применимо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Не применимо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518956855"/>
                  </a:ext>
                </a:extLst>
              </a:tr>
              <a:tr h="982276">
                <a:tc>
                  <a:txBody>
                    <a:bodyPr/>
                    <a:lstStyle/>
                    <a:p>
                      <a:r>
                        <a:rPr lang="ru-RU" sz="1800" b="1"/>
                        <a:t>Юридические риски</a:t>
                      </a:r>
                      <a:endParaRPr lang="ru-RU" sz="180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Средние (детский труд, ответственность)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Минимальные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Минимальные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Средние (лицензии на отходы)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1554636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59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5C8EF-DBB8-F620-E011-2D0644E1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SWOT </a:t>
            </a:r>
            <a:r>
              <a:rPr lang="ru-RU" dirty="0"/>
              <a:t>анализ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7B037AF-26CF-0F39-C5CB-A350CEB7F1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768909"/>
              </p:ext>
            </p:extLst>
          </p:nvPr>
        </p:nvGraphicFramePr>
        <p:xfrm>
          <a:off x="838199" y="1377755"/>
          <a:ext cx="10787744" cy="523983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393872">
                  <a:extLst>
                    <a:ext uri="{9D8B030D-6E8A-4147-A177-3AD203B41FA5}">
                      <a16:colId xmlns:a16="http://schemas.microsoft.com/office/drawing/2014/main" val="1403355990"/>
                    </a:ext>
                  </a:extLst>
                </a:gridCol>
                <a:gridCol w="5393872">
                  <a:extLst>
                    <a:ext uri="{9D8B030D-6E8A-4147-A177-3AD203B41FA5}">
                      <a16:colId xmlns:a16="http://schemas.microsoft.com/office/drawing/2014/main" val="3193626485"/>
                    </a:ext>
                  </a:extLst>
                </a:gridCol>
              </a:tblGrid>
              <a:tr h="269217">
                <a:tc>
                  <a:txBody>
                    <a:bodyPr/>
                    <a:lstStyle/>
                    <a:p>
                      <a:r>
                        <a:rPr lang="ru-RU" sz="1800" b="1" dirty="0"/>
                        <a:t>Сильные стороны </a:t>
                      </a:r>
                      <a:endParaRPr lang="en-US" sz="1800" dirty="0"/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Слабые стороны </a:t>
                      </a:r>
                      <a:endParaRPr lang="en-US" sz="1800" dirty="0"/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37089865"/>
                  </a:ext>
                </a:extLst>
              </a:tr>
              <a:tr h="2086431">
                <a:tc>
                  <a:txBody>
                    <a:bodyPr/>
                    <a:lstStyle/>
                    <a:p>
                      <a:r>
                        <a:rPr lang="ru-RU" sz="1800" dirty="0"/>
                        <a:t>Самая низкая цена на рынке (≈100 руб. за пакет)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Минимальные затраты на запуск и ежемесячное обслуживание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Прозрачная комиссия 15%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Простая логистика – не нужен автопарк или штатные курьеры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Зависимость от добросовестности и пунктуальности школьников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Работает только в светлое время суток и с учётом занятости детей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Нет собственного юридического лица или договоров страхования (на старте)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Зависимость от </a:t>
                      </a:r>
                      <a:r>
                        <a:rPr lang="ru-RU" sz="1800" dirty="0" err="1"/>
                        <a:t>Telegram</a:t>
                      </a:r>
                      <a:r>
                        <a:rPr lang="ru-RU" sz="1800" dirty="0"/>
                        <a:t> и его доступности в РФ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775323253"/>
                  </a:ext>
                </a:extLst>
              </a:tr>
              <a:tr h="269217">
                <a:tc>
                  <a:txBody>
                    <a:bodyPr/>
                    <a:lstStyle/>
                    <a:p>
                      <a:r>
                        <a:rPr lang="ru-RU" sz="1800" b="1" dirty="0"/>
                        <a:t>Возможности</a:t>
                      </a:r>
                      <a:endParaRPr lang="en-US" sz="1800" dirty="0"/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Угрозы</a:t>
                      </a:r>
                      <a:endParaRPr lang="en-US" sz="1800" dirty="0"/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426591634"/>
                  </a:ext>
                </a:extLst>
              </a:tr>
              <a:tr h="2490255">
                <a:tc>
                  <a:txBody>
                    <a:bodyPr/>
                    <a:lstStyle/>
                    <a:p>
                      <a:r>
                        <a:rPr lang="ru-RU" sz="1800" dirty="0"/>
                        <a:t>Сезонный пик летом – каникулы + отпуска + ремонты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Интеграция с домовыми чатами и районными </a:t>
                      </a:r>
                      <a:r>
                        <a:rPr lang="ru-RU" sz="1800" dirty="0" err="1"/>
                        <a:t>пабликами</a:t>
                      </a:r>
                      <a:endParaRPr lang="ru-RU" sz="1800" dirty="0"/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Юридические риски – претензии родителей или проверки детского труда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Негативный инцидент (кража, потеря пакета) – удар по репутации</a:t>
                      </a:r>
                      <a:br>
                        <a:rPr lang="ru-RU" sz="1800" dirty="0"/>
                      </a:br>
                      <a:r>
                        <a:rPr lang="ru-RU" sz="1800" dirty="0"/>
                        <a:t>Сезонный спад осенью/зимой (школьники заняты учёбой)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484062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55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A8FA9-6410-C6B5-4F0D-C9A483F2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рисков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201C51D-84CB-71E9-CDC4-DEB6BA7087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122147"/>
              </p:ext>
            </p:extLst>
          </p:nvPr>
        </p:nvGraphicFramePr>
        <p:xfrm>
          <a:off x="1035698" y="1505124"/>
          <a:ext cx="10086390" cy="474977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7278">
                  <a:extLst>
                    <a:ext uri="{9D8B030D-6E8A-4147-A177-3AD203B41FA5}">
                      <a16:colId xmlns:a16="http://schemas.microsoft.com/office/drawing/2014/main" val="756332810"/>
                    </a:ext>
                  </a:extLst>
                </a:gridCol>
                <a:gridCol w="2017278">
                  <a:extLst>
                    <a:ext uri="{9D8B030D-6E8A-4147-A177-3AD203B41FA5}">
                      <a16:colId xmlns:a16="http://schemas.microsoft.com/office/drawing/2014/main" val="2406187434"/>
                    </a:ext>
                  </a:extLst>
                </a:gridCol>
                <a:gridCol w="2017278">
                  <a:extLst>
                    <a:ext uri="{9D8B030D-6E8A-4147-A177-3AD203B41FA5}">
                      <a16:colId xmlns:a16="http://schemas.microsoft.com/office/drawing/2014/main" val="1166526334"/>
                    </a:ext>
                  </a:extLst>
                </a:gridCol>
                <a:gridCol w="2017278">
                  <a:extLst>
                    <a:ext uri="{9D8B030D-6E8A-4147-A177-3AD203B41FA5}">
                      <a16:colId xmlns:a16="http://schemas.microsoft.com/office/drawing/2014/main" val="4117564913"/>
                    </a:ext>
                  </a:extLst>
                </a:gridCol>
                <a:gridCol w="2017278">
                  <a:extLst>
                    <a:ext uri="{9D8B030D-6E8A-4147-A177-3AD203B41FA5}">
                      <a16:colId xmlns:a16="http://schemas.microsoft.com/office/drawing/2014/main" val="3188962569"/>
                    </a:ext>
                  </a:extLst>
                </a:gridCol>
              </a:tblGrid>
              <a:tr h="256695">
                <a:tc>
                  <a:txBody>
                    <a:bodyPr/>
                    <a:lstStyle/>
                    <a:p>
                      <a:r>
                        <a:rPr lang="ru-RU" sz="1600" b="1"/>
                        <a:t>Категория риска</a:t>
                      </a:r>
                      <a:endParaRPr lang="ru-RU" sz="1600"/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Описание риска</a:t>
                      </a:r>
                      <a:endParaRPr lang="ru-RU" sz="1600"/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Вероятность</a:t>
                      </a:r>
                      <a:endParaRPr lang="ru-RU" sz="1600"/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Влияние на бизнес</a:t>
                      </a:r>
                      <a:endParaRPr lang="ru-RU" sz="1600" dirty="0"/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b="1"/>
                        <a:t>Стратегия минимизации</a:t>
                      </a:r>
                      <a:endParaRPr lang="ru-RU" sz="1600"/>
                    </a:p>
                  </a:txBody>
                  <a:tcPr marL="29204" marR="29204" marT="14602" marB="14602" anchor="ctr"/>
                </a:tc>
                <a:extLst>
                  <a:ext uri="{0D108BD9-81ED-4DB2-BD59-A6C34878D82A}">
                    <a16:rowId xmlns:a16="http://schemas.microsoft.com/office/drawing/2014/main" val="382656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/>
                        <a:t>Юридический</a:t>
                      </a:r>
                      <a:endParaRPr lang="ru-RU" sz="1600"/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Претензии со стороны родителей школьников или регулирующих органов по поводу детского труда.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Средняя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Высокое (вплоть до блокировки)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/>
                        <a:t>Добавить раздел в пользовательское соглашение с отказом от ответственности. </a:t>
                      </a:r>
                    </a:p>
                  </a:txBody>
                  <a:tcPr marL="29204" marR="29204" marT="14602" marB="14602" anchor="ctr"/>
                </a:tc>
                <a:extLst>
                  <a:ext uri="{0D108BD9-81ED-4DB2-BD59-A6C34878D82A}">
                    <a16:rowId xmlns:a16="http://schemas.microsoft.com/office/drawing/2014/main" val="1217503295"/>
                  </a:ext>
                </a:extLst>
              </a:tr>
              <a:tr h="522212">
                <a:tc>
                  <a:txBody>
                    <a:bodyPr/>
                    <a:lstStyle/>
                    <a:p>
                      <a:r>
                        <a:rPr lang="ru-RU" sz="1600" b="1"/>
                        <a:t>Операционный</a:t>
                      </a:r>
                      <a:endParaRPr lang="ru-RU" sz="1600"/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Школьник не вышел на заказ или украл пакет с ценными вещами.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Низкая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Среднее (репутационные потери)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/>
                        <a:t>Двойная система верификации. Внедрить рейтинг исполнителей.</a:t>
                      </a:r>
                    </a:p>
                  </a:txBody>
                  <a:tcPr marL="29204" marR="29204" marT="14602" marB="14602" anchor="ctr"/>
                </a:tc>
                <a:extLst>
                  <a:ext uri="{0D108BD9-81ED-4DB2-BD59-A6C34878D82A}">
                    <a16:rowId xmlns:a16="http://schemas.microsoft.com/office/drawing/2014/main" val="4191019831"/>
                  </a:ext>
                </a:extLst>
              </a:tr>
              <a:tr h="1087929">
                <a:tc>
                  <a:txBody>
                    <a:bodyPr/>
                    <a:lstStyle/>
                    <a:p>
                      <a:r>
                        <a:rPr lang="ru-RU" sz="1600" b="1" dirty="0"/>
                        <a:t>Рыночный</a:t>
                      </a:r>
                      <a:endParaRPr lang="ru-RU" sz="1600" dirty="0"/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Отсутствие спроса или появление сильного конкурента с таким же УТП.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Низкая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Среднее</a:t>
                      </a:r>
                    </a:p>
                  </a:txBody>
                  <a:tcPr marL="29204" marR="29204" marT="14602" marB="1460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начать с 2-3 густонаселённых спальных районов, стать там монополистом, прежде чем расширяться.</a:t>
                      </a:r>
                    </a:p>
                  </a:txBody>
                  <a:tcPr marL="29204" marR="29204" marT="14602" marB="14602" anchor="ctr"/>
                </a:tc>
                <a:extLst>
                  <a:ext uri="{0D108BD9-81ED-4DB2-BD59-A6C34878D82A}">
                    <a16:rowId xmlns:a16="http://schemas.microsoft.com/office/drawing/2014/main" val="3836656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160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342DC8B-EE67-6434-593A-ED4326253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350" y="1825625"/>
            <a:ext cx="1057158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6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167100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450</Words>
  <Application>Microsoft Office PowerPoint</Application>
  <PresentationFormat>Широкоэкранный</PresentationFormat>
  <Paragraphs>79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TrashOut – Проект Константина Евстигнеева</vt:lpstr>
      <vt:lpstr>Проблемы </vt:lpstr>
      <vt:lpstr>Решение</vt:lpstr>
      <vt:lpstr>Экономическая составляющая</vt:lpstr>
      <vt:lpstr>Сезонность</vt:lpstr>
      <vt:lpstr>Функция ИБ </vt:lpstr>
      <vt:lpstr>Конкурентный анализ</vt:lpstr>
      <vt:lpstr>SWOT анализ</vt:lpstr>
      <vt:lpstr>Таблица рисков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Seab</dc:creator>
  <cp:lastModifiedBy>Seab</cp:lastModifiedBy>
  <cp:revision>13</cp:revision>
  <dcterms:created xsi:type="dcterms:W3CDTF">2026-04-23T06:48:50Z</dcterms:created>
  <dcterms:modified xsi:type="dcterms:W3CDTF">2026-05-02T04:33:08Z</dcterms:modified>
</cp:coreProperties>
</file>