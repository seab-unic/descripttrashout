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59" r:id="rId1"/>
  </p:sldMasterIdLst>
  <p:sldIdLst>
    <p:sldId id="256" r:id="rId2"/>
    <p:sldId id="265" r:id="rId3"/>
    <p:sldId id="257" r:id="rId4"/>
    <p:sldId id="258" r:id="rId5"/>
    <p:sldId id="259" r:id="rId6"/>
    <p:sldId id="263" r:id="rId7"/>
    <p:sldId id="264" r:id="rId8"/>
    <p:sldId id="262" r:id="rId9"/>
    <p:sldId id="261" r:id="rId10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C2FFA5D-87B4-456A-9821-1D502468CF0F}" styleName="Стиль из темы 1 - акцент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D5ABB26-0587-4C30-8999-92F81FD0307C}" styleName="Нет стиля, нет сетки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284E427A-3D55-4303-BF80-6455036E1DE7}" styleName="Стиль из темы 1 - акцент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82" d="100"/>
          <a:sy n="82" d="100"/>
        </p:scale>
        <p:origin x="72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pieChart>
        <c:varyColors val="1"/>
        <c:ser>
          <c:idx val="0"/>
          <c:order val="0"/>
          <c:tx>
            <c:strRef>
              <c:f>Лист1!$B$1</c:f>
              <c:strCache>
                <c:ptCount val="1"/>
                <c:pt idx="0">
                  <c:v>Затраты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5AF5-42C0-9653-EA05A41D5A60}"/>
              </c:ext>
            </c:extLst>
          </c:dPt>
          <c:dPt>
            <c:idx val="1"/>
            <c:bubble3D val="0"/>
            <c:spPr>
              <a:solidFill>
                <a:schemeClr val="tx2">
                  <a:lumMod val="50000"/>
                  <a:lumOff val="5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733A-452E-917C-4E53B5DE113C}"/>
              </c:ext>
            </c:extLst>
          </c:dPt>
          <c:cat>
            <c:strRef>
              <c:f>Лист1!$A$2:$A$3</c:f>
              <c:strCache>
                <c:ptCount val="2"/>
                <c:pt idx="0">
                  <c:v>Telegram-бот (хостинг + БД)</c:v>
                </c:pt>
                <c:pt idx="1">
                  <c:v>Аренда облачного сервера (Кемерово)</c:v>
                </c:pt>
              </c:strCache>
            </c:strRef>
          </c:cat>
          <c:val>
            <c:numRef>
              <c:f>Лист1!$B$2:$B$3</c:f>
              <c:numCache>
                <c:formatCode>General</c:formatCode>
                <c:ptCount val="2"/>
                <c:pt idx="0">
                  <c:v>2500</c:v>
                </c:pt>
                <c:pt idx="1">
                  <c:v>1000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733A-452E-917C-4E53B5DE113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8F2BFB7-F91D-1621-F632-7A79CAB0EC9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CEDCF344-0346-8E0A-E573-F971D2B6D7F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90F2F98D-608B-DD22-A036-63F40990D0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21AE8B-867D-4ABC-BE86-AE9540E29DBF}" type="datetimeFigureOut">
              <a:rPr lang="ru-RU" smtClean="0"/>
              <a:t>02.05.2026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2302D920-1D64-F3A1-E359-D57E02CEA3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63C743DC-1950-FDE0-BD4B-D1D300CB83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1966BC-1A21-4DC8-A497-CCFECAD3266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894453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AE015D1-BC75-FAAF-777F-D6B8EFC531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5F702D0-8FCC-6D24-2100-5A76592D07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2C7606B6-5053-64F1-F597-3849C9ADE4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21AE8B-867D-4ABC-BE86-AE9540E29DBF}" type="datetimeFigureOut">
              <a:rPr lang="ru-RU" smtClean="0"/>
              <a:t>02.05.2026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87449CA-3708-D0FC-14E0-34E73E37B0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E10F0789-9A09-3D08-A133-730ED383D2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1966BC-1A21-4DC8-A497-CCFECAD3266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051870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D5D3F61-DC6D-BBCC-26EB-17DF1439F6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183FAA22-50B6-C2D4-0AF6-9998B098CB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C0A6BEE5-D8A7-7B28-EF9B-BDFBE02593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21AE8B-867D-4ABC-BE86-AE9540E29DBF}" type="datetimeFigureOut">
              <a:rPr lang="ru-RU" smtClean="0"/>
              <a:t>02.05.2026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0BAB8B7A-BACF-D39A-433B-9256DD9DF2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2C60AFF-E84D-FBFB-2997-EA1B764532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1966BC-1A21-4DC8-A497-CCFECAD3266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31521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06A5ECB-D967-E967-06F5-9DEEEE6BC3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F1D376F7-3F4E-16B5-7FA5-57CA328573A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EA0FD536-1155-220E-796D-1BFC1EAB236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BBFFB3A3-A4BC-0CF8-4520-90C52750F0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21AE8B-867D-4ABC-BE86-AE9540E29DBF}" type="datetimeFigureOut">
              <a:rPr lang="ru-RU" smtClean="0"/>
              <a:t>02.05.2026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8E84EE1E-1C7C-8E92-FD74-E190BCABF9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D7202141-B1AC-A752-6D77-A95F055210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1966BC-1A21-4DC8-A497-CCFECAD3266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883448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43865AD-C807-0643-DA77-598C5BFF77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531191B-2D67-4911-F0F4-ECC10EB322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20872247-AE4A-0E48-80B3-B9FA3565AF6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C7A11929-DEBF-27D7-49E0-AE8EFA70318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17C78FB2-46A4-5FF4-2436-11E2335D8FD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1D5114C4-E55D-3629-795A-23D662A676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21AE8B-867D-4ABC-BE86-AE9540E29DBF}" type="datetimeFigureOut">
              <a:rPr lang="ru-RU" smtClean="0"/>
              <a:t>02.05.2026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B70FBAED-8B73-E4DE-4EE6-9155EDB1D1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4E5609D2-3B20-6853-ED58-F41AF2952B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1966BC-1A21-4DC8-A497-CCFECAD3266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585865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06D1FB6-F200-C71D-0BEE-1C9B48EF45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ADDE0F8A-4CA2-1FA5-ACC4-0ABEA9FD1A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21AE8B-867D-4ABC-BE86-AE9540E29DBF}" type="datetimeFigureOut">
              <a:rPr lang="ru-RU" smtClean="0"/>
              <a:t>02.05.2026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687A5656-7D46-D09F-47C5-F8DDB88B82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F36AA2B9-73FB-0BD0-40C0-02E942D553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1966BC-1A21-4DC8-A497-CCFECAD3266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330854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7FFBE996-19FE-002F-6993-B951DF7AC7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21AE8B-867D-4ABC-BE86-AE9540E29DBF}" type="datetimeFigureOut">
              <a:rPr lang="ru-RU" smtClean="0"/>
              <a:t>02.05.2026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837EFC58-AF7D-BACA-66B2-E82B538475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13D6852-00AB-3C62-5CFC-68D03F2355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1966BC-1A21-4DC8-A497-CCFECAD3266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800772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9D96485-07A8-3FA6-6415-57B3EDB323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715926C-8A05-5986-80EA-B021C3E6C6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2618F95-940E-0038-8109-1325A6B51A8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48202FBC-7463-0E78-FDCE-A8D56917D9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21AE8B-867D-4ABC-BE86-AE9540E29DBF}" type="datetimeFigureOut">
              <a:rPr lang="ru-RU" smtClean="0"/>
              <a:t>02.05.2026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E8F91063-F974-E3CE-5083-4B12F55BD0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D95C3842-6BA5-010F-2071-FDAB3E9F87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1966BC-1A21-4DC8-A497-CCFECAD3266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91422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3879FAB-06F5-AF36-9F45-A4EF9B8FA3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F2474E58-F493-4CA5-0D47-7562D0C8717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E2296F99-BE30-36D7-6EF7-ED87423C139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337E6DAB-3125-AF2A-7AC7-3761D152B1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21AE8B-867D-4ABC-BE86-AE9540E29DBF}" type="datetimeFigureOut">
              <a:rPr lang="ru-RU" smtClean="0"/>
              <a:t>02.05.2026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395CF63C-8BD2-DF43-DEA7-1704B090D9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5150394F-3376-4B94-0070-2482296B07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1966BC-1A21-4DC8-A497-CCFECAD3266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266835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6A6C37-518B-F584-EB96-F541F98919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080AEC68-E376-07E4-FAFA-9B495FE000B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2AE93F4B-A4DC-4659-C7BC-8DA0A9343D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21AE8B-867D-4ABC-BE86-AE9540E29DBF}" type="datetimeFigureOut">
              <a:rPr lang="ru-RU" smtClean="0"/>
              <a:t>02.05.2026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4540DE03-CF3F-6F8E-EA7F-8F5FBF2EDE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38EE7A3B-CF0E-50A0-BD36-D3ACAC8908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1966BC-1A21-4DC8-A497-CCFECAD3266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088607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E915EDF0-4F78-0C91-6DFF-B596942B8CE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8F48BFDD-F47E-39F5-1718-4E2F3B7C7BB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79E2FE49-E0A0-0DE2-9CC8-06BBB2DDA7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21AE8B-867D-4ABC-BE86-AE9540E29DBF}" type="datetimeFigureOut">
              <a:rPr lang="ru-RU" smtClean="0"/>
              <a:t>02.05.2026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27A94B45-5096-979D-769D-12880CBC5F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1095E6A-053D-CC77-0785-533768CFE2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1966BC-1A21-4DC8-A497-CCFECAD3266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847184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5B50732-1908-92B9-FB58-AA43018262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561A56C-5866-2A92-1E51-C4BA8AAA6F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6556589A-1E0C-464B-B156-089E29DBC98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F21AE8B-867D-4ABC-BE86-AE9540E29DBF}" type="datetimeFigureOut">
              <a:rPr lang="ru-RU" smtClean="0"/>
              <a:t>02.05.2026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CA8BE28D-D270-21AE-2321-EEDB8AB113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A7857151-04C4-EF28-B39F-B749C34B64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B1966BC-1A21-4DC8-A497-CCFECAD3266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052777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60" r:id="rId1"/>
    <p:sldLayoutId id="2147483761" r:id="rId2"/>
    <p:sldLayoutId id="2147483762" r:id="rId3"/>
    <p:sldLayoutId id="2147483763" r:id="rId4"/>
    <p:sldLayoutId id="2147483764" r:id="rId5"/>
    <p:sldLayoutId id="2147483765" r:id="rId6"/>
    <p:sldLayoutId id="2147483766" r:id="rId7"/>
    <p:sldLayoutId id="2147483767" r:id="rId8"/>
    <p:sldLayoutId id="2147483768" r:id="rId9"/>
    <p:sldLayoutId id="2147483769" r:id="rId10"/>
    <p:sldLayoutId id="2147483770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611E3F2-BB6F-F7A6-9DD7-61456AF8AE9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TrashOut</a:t>
            </a:r>
            <a:r>
              <a:rPr lang="en-US" dirty="0"/>
              <a:t> – </a:t>
            </a:r>
            <a:r>
              <a:rPr lang="ru-RU" dirty="0"/>
              <a:t>Проект Константина Евстигнеева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3C442E37-F609-F809-73EE-6C6F0FD39DA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ru-RU" dirty="0"/>
              <a:t>Константин Евстигнеев </a:t>
            </a:r>
            <a:r>
              <a:rPr lang="en-US" dirty="0"/>
              <a:t>||</a:t>
            </a:r>
            <a:r>
              <a:rPr lang="ru-RU" dirty="0"/>
              <a:t> ИИ71</a:t>
            </a:r>
          </a:p>
        </p:txBody>
      </p:sp>
    </p:spTree>
    <p:extLst>
      <p:ext uri="{BB962C8B-B14F-4D97-AF65-F5344CB8AC3E}">
        <p14:creationId xmlns:p14="http://schemas.microsoft.com/office/powerpoint/2010/main" val="11492074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D42D016-5CA9-45C7-33DE-98D7626730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Проблемы 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24F2D1E-7E3E-4690-0DA1-6F0B3547EC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144347" cy="3026293"/>
          </a:xfrm>
        </p:spPr>
        <p:txBody>
          <a:bodyPr/>
          <a:lstStyle/>
          <a:p>
            <a:r>
              <a:rPr lang="ru-RU" dirty="0"/>
              <a:t>Обеспечение чистоты в подъезде:</a:t>
            </a:r>
          </a:p>
          <a:p>
            <a:r>
              <a:rPr lang="ru-RU" dirty="0"/>
              <a:t>Маломобильные граждане:</a:t>
            </a:r>
          </a:p>
          <a:p>
            <a:r>
              <a:rPr lang="ru-RU" dirty="0"/>
              <a:t>Трудовая занятость подростков:</a:t>
            </a:r>
          </a:p>
        </p:txBody>
      </p:sp>
      <p:pic>
        <p:nvPicPr>
          <p:cNvPr id="4" name="Image 0">
            <a:extLst>
              <a:ext uri="{FF2B5EF4-FFF2-40B4-BE49-F238E27FC236}">
                <a16:creationId xmlns:a16="http://schemas.microsoft.com/office/drawing/2014/main" id="{93F11DBE-8522-8604-D483-8586124A5C8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046" t="-2779" r="-1046" b="2779"/>
          <a:stretch/>
        </p:blipFill>
        <p:spPr>
          <a:xfrm>
            <a:off x="5174405" y="1479644"/>
            <a:ext cx="6768779" cy="4003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00409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35E2F9D-62DD-AF87-5641-A3729B798A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Решение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D0F87FF-3200-9D05-A649-20C1A99C31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851849" cy="4351338"/>
          </a:xfrm>
        </p:spPr>
        <p:txBody>
          <a:bodyPr>
            <a:normAutofit/>
          </a:bodyPr>
          <a:lstStyle/>
          <a:p>
            <a:r>
              <a:rPr lang="ru-RU" dirty="0"/>
              <a:t>Мой проект - платформа в </a:t>
            </a:r>
            <a:r>
              <a:rPr lang="ru-RU" dirty="0" err="1"/>
              <a:t>Telegram</a:t>
            </a:r>
            <a:r>
              <a:rPr lang="ru-RU" dirty="0"/>
              <a:t>, где школьники берут </a:t>
            </a:r>
            <a:r>
              <a:rPr lang="ru-RU" dirty="0" err="1"/>
              <a:t>микрозаказы</a:t>
            </a:r>
            <a:r>
              <a:rPr lang="ru-RU" dirty="0"/>
              <a:t> у соседей на вынос мусора. </a:t>
            </a:r>
          </a:p>
        </p:txBody>
      </p:sp>
      <p:pic>
        <p:nvPicPr>
          <p:cNvPr id="1026" name="Picture 2" descr="Фотографии на тему «Курьер» — скачивайте бесплатные изображения высокого  качества | Freepik">
            <a:extLst>
              <a:ext uri="{FF2B5EF4-FFF2-40B4-BE49-F238E27FC236}">
                <a16:creationId xmlns:a16="http://schemas.microsoft.com/office/drawing/2014/main" id="{1A88A005-64FA-1B2B-AB2D-33FF393CDAF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90049" y="1825625"/>
            <a:ext cx="5178672" cy="34461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6" name="Прямая со стрелкой 5">
            <a:extLst>
              <a:ext uri="{FF2B5EF4-FFF2-40B4-BE49-F238E27FC236}">
                <a16:creationId xmlns:a16="http://schemas.microsoft.com/office/drawing/2014/main" id="{DC0ACC43-D664-37DC-F57A-33BE00C7D14C}"/>
              </a:ext>
            </a:extLst>
          </p:cNvPr>
          <p:cNvCxnSpPr/>
          <p:nvPr/>
        </p:nvCxnSpPr>
        <p:spPr>
          <a:xfrm flipH="1">
            <a:off x="10151706" y="2911151"/>
            <a:ext cx="774441" cy="667139"/>
          </a:xfrm>
          <a:prstGeom prst="straightConnector1">
            <a:avLst/>
          </a:prstGeom>
          <a:ln w="19050" cap="flat" cmpd="sng" algn="ctr">
            <a:solidFill>
              <a:srgbClr val="C00000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72C4B62E-D640-75B0-CC08-578C88E861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2599" y="2357839"/>
            <a:ext cx="1181265" cy="4858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86969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12BFEDC-28B4-E922-41A2-3C82CF1FE0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Экономическая составляющая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CA455A7-A12E-2048-801F-C1F182544E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17985" y="1778972"/>
            <a:ext cx="4033934" cy="2513110"/>
          </a:xfrm>
        </p:spPr>
        <p:txBody>
          <a:bodyPr>
            <a:normAutofit/>
          </a:bodyPr>
          <a:lstStyle/>
          <a:p>
            <a:r>
              <a:rPr lang="ru-RU" dirty="0"/>
              <a:t>Рентабельность обеспечивается низкими затратами на запуск Комиссия 15% покрывает расходы.</a:t>
            </a:r>
          </a:p>
        </p:txBody>
      </p:sp>
      <p:graphicFrame>
        <p:nvGraphicFramePr>
          <p:cNvPr id="27" name="Диаграмма 26">
            <a:extLst>
              <a:ext uri="{FF2B5EF4-FFF2-40B4-BE49-F238E27FC236}">
                <a16:creationId xmlns:a16="http://schemas.microsoft.com/office/drawing/2014/main" id="{CDB57D6C-DF3B-1916-888F-6016B1E65CE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848267647"/>
              </p:ext>
            </p:extLst>
          </p:nvPr>
        </p:nvGraphicFramePr>
        <p:xfrm>
          <a:off x="4851919" y="1690688"/>
          <a:ext cx="6391469" cy="500869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384639552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1E4D03F-B279-33E8-9E5B-B186C265B2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Сезонность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1990373-E690-9C53-1B64-35C62D1563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257800" cy="4351338"/>
          </a:xfrm>
        </p:spPr>
        <p:txBody>
          <a:bodyPr>
            <a:normAutofit/>
          </a:bodyPr>
          <a:lstStyle/>
          <a:p>
            <a:r>
              <a:rPr lang="ru-RU" dirty="0"/>
              <a:t>Лето - пиковый сезон для сервиса: у школьников каникулы (больше времени для работы), а сезон отпусков и ремонтов увеличивает спрос на вывоз мусора.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DC2C68A6-18A4-D841-5EE0-4433508454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3114" y="1825625"/>
            <a:ext cx="4590686" cy="33530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420543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715F0C1-8D91-CA0D-4C00-010D8D7069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Конкурентный анализ</a:t>
            </a:r>
          </a:p>
        </p:txBody>
      </p:sp>
      <p:graphicFrame>
        <p:nvGraphicFramePr>
          <p:cNvPr id="5" name="Таблица 4">
            <a:extLst>
              <a:ext uri="{FF2B5EF4-FFF2-40B4-BE49-F238E27FC236}">
                <a16:creationId xmlns:a16="http://schemas.microsoft.com/office/drawing/2014/main" id="{BB36DCFB-6536-0286-3BF9-F1EF81959F8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42364018"/>
              </p:ext>
            </p:extLst>
          </p:nvPr>
        </p:nvGraphicFramePr>
        <p:xfrm>
          <a:off x="838199" y="1352939"/>
          <a:ext cx="10890381" cy="5194625"/>
        </p:xfrm>
        <a:graphic>
          <a:graphicData uri="http://schemas.openxmlformats.org/drawingml/2006/table">
            <a:tbl>
              <a:tblPr>
                <a:tableStyleId>{3C2FFA5D-87B4-456A-9821-1D502468CF0F}</a:tableStyleId>
              </a:tblPr>
              <a:tblGrid>
                <a:gridCol w="1866129">
                  <a:extLst>
                    <a:ext uri="{9D8B030D-6E8A-4147-A177-3AD203B41FA5}">
                      <a16:colId xmlns:a16="http://schemas.microsoft.com/office/drawing/2014/main" val="812569972"/>
                    </a:ext>
                  </a:extLst>
                </a:gridCol>
                <a:gridCol w="2256063">
                  <a:extLst>
                    <a:ext uri="{9D8B030D-6E8A-4147-A177-3AD203B41FA5}">
                      <a16:colId xmlns:a16="http://schemas.microsoft.com/office/drawing/2014/main" val="4120129658"/>
                    </a:ext>
                  </a:extLst>
                </a:gridCol>
                <a:gridCol w="2256063">
                  <a:extLst>
                    <a:ext uri="{9D8B030D-6E8A-4147-A177-3AD203B41FA5}">
                      <a16:colId xmlns:a16="http://schemas.microsoft.com/office/drawing/2014/main" val="1201958830"/>
                    </a:ext>
                  </a:extLst>
                </a:gridCol>
                <a:gridCol w="2256063">
                  <a:extLst>
                    <a:ext uri="{9D8B030D-6E8A-4147-A177-3AD203B41FA5}">
                      <a16:colId xmlns:a16="http://schemas.microsoft.com/office/drawing/2014/main" val="3572462965"/>
                    </a:ext>
                  </a:extLst>
                </a:gridCol>
                <a:gridCol w="2256063">
                  <a:extLst>
                    <a:ext uri="{9D8B030D-6E8A-4147-A177-3AD203B41FA5}">
                      <a16:colId xmlns:a16="http://schemas.microsoft.com/office/drawing/2014/main" val="519290226"/>
                    </a:ext>
                  </a:extLst>
                </a:gridCol>
              </a:tblGrid>
              <a:tr h="674838">
                <a:tc>
                  <a:txBody>
                    <a:bodyPr/>
                    <a:lstStyle/>
                    <a:p>
                      <a:r>
                        <a:rPr lang="ru-RU" sz="1800" dirty="0"/>
                        <a:t>Критерий</a:t>
                      </a:r>
                    </a:p>
                  </a:txBody>
                  <a:tcPr marL="35667" marR="35667" marT="17833" marB="17833" anchor="ctr"/>
                </a:tc>
                <a:tc>
                  <a:txBody>
                    <a:bodyPr/>
                    <a:lstStyle/>
                    <a:p>
                      <a:r>
                        <a:rPr lang="en-US" sz="1800" b="1"/>
                        <a:t>TrashOut</a:t>
                      </a:r>
                      <a:endParaRPr lang="en-US" sz="1800"/>
                    </a:p>
                  </a:txBody>
                  <a:tcPr marL="35667" marR="35667" marT="17833" marB="17833" anchor="ctr"/>
                </a:tc>
                <a:tc>
                  <a:txBody>
                    <a:bodyPr/>
                    <a:lstStyle/>
                    <a:p>
                      <a:r>
                        <a:rPr lang="ru-RU" sz="1800"/>
                        <a:t>МусорОФФ</a:t>
                      </a:r>
                    </a:p>
                  </a:txBody>
                  <a:tcPr marL="35667" marR="35667" marT="17833" marB="17833" anchor="ctr"/>
                </a:tc>
                <a:tc>
                  <a:txBody>
                    <a:bodyPr/>
                    <a:lstStyle/>
                    <a:p>
                      <a:r>
                        <a:rPr lang="ru-RU" sz="1800"/>
                        <a:t>Убиратор</a:t>
                      </a:r>
                    </a:p>
                  </a:txBody>
                  <a:tcPr marL="35667" marR="35667" marT="17833" marB="17833" anchor="ctr"/>
                </a:tc>
                <a:tc>
                  <a:txBody>
                    <a:bodyPr/>
                    <a:lstStyle/>
                    <a:p>
                      <a:r>
                        <a:rPr lang="ru-RU" sz="1800" dirty="0" err="1"/>
                        <a:t>Экологистика</a:t>
                      </a:r>
                      <a:r>
                        <a:rPr lang="ru-RU" sz="1800" dirty="0"/>
                        <a:t> / </a:t>
                      </a:r>
                      <a:r>
                        <a:rPr lang="ru-RU" sz="1800" dirty="0" err="1"/>
                        <a:t>Баласка</a:t>
                      </a:r>
                      <a:endParaRPr lang="ru-RU" sz="1800" dirty="0"/>
                    </a:p>
                  </a:txBody>
                  <a:tcPr marL="35667" marR="35667" marT="17833" marB="17833" anchor="ctr"/>
                </a:tc>
                <a:extLst>
                  <a:ext uri="{0D108BD9-81ED-4DB2-BD59-A6C34878D82A}">
                    <a16:rowId xmlns:a16="http://schemas.microsoft.com/office/drawing/2014/main" val="1201525749"/>
                  </a:ext>
                </a:extLst>
              </a:tr>
              <a:tr h="1137936">
                <a:tc>
                  <a:txBody>
                    <a:bodyPr/>
                    <a:lstStyle/>
                    <a:p>
                      <a:r>
                        <a:rPr lang="ru-RU" sz="1800" b="1"/>
                        <a:t>Тип сервиса</a:t>
                      </a:r>
                      <a:endParaRPr lang="ru-RU" sz="1800"/>
                    </a:p>
                  </a:txBody>
                  <a:tcPr marL="35667" marR="35667" marT="17833" marB="17833" anchor="ctr"/>
                </a:tc>
                <a:tc>
                  <a:txBody>
                    <a:bodyPr/>
                    <a:lstStyle/>
                    <a:p>
                      <a:r>
                        <a:rPr lang="ru-RU" sz="1800" dirty="0"/>
                        <a:t>Агрегатор </a:t>
                      </a:r>
                      <a:r>
                        <a:rPr lang="ru-RU" sz="1800" dirty="0" err="1"/>
                        <a:t>микрозаказов</a:t>
                      </a:r>
                      <a:r>
                        <a:rPr lang="ru-RU" sz="1800" dirty="0"/>
                        <a:t> в </a:t>
                      </a:r>
                      <a:r>
                        <a:rPr lang="en-US" sz="1800" dirty="0"/>
                        <a:t>Telegram</a:t>
                      </a:r>
                    </a:p>
                  </a:txBody>
                  <a:tcPr marL="35667" marR="35667" marT="17833" marB="17833" anchor="ctr"/>
                </a:tc>
                <a:tc>
                  <a:txBody>
                    <a:bodyPr/>
                    <a:lstStyle/>
                    <a:p>
                      <a:r>
                        <a:rPr lang="ru-RU" sz="1800" dirty="0"/>
                        <a:t>Вывоз мусора курьерами</a:t>
                      </a:r>
                    </a:p>
                  </a:txBody>
                  <a:tcPr marL="35667" marR="35667" marT="17833" marB="17833" anchor="ctr"/>
                </a:tc>
                <a:tc>
                  <a:txBody>
                    <a:bodyPr/>
                    <a:lstStyle/>
                    <a:p>
                      <a:r>
                        <a:rPr lang="en-US" sz="1800"/>
                        <a:t>B2B/B2C </a:t>
                      </a:r>
                      <a:r>
                        <a:rPr lang="ru-RU" sz="1800"/>
                        <a:t>вывоз отходов</a:t>
                      </a:r>
                    </a:p>
                  </a:txBody>
                  <a:tcPr marL="35667" marR="35667" marT="17833" marB="17833" anchor="ctr"/>
                </a:tc>
                <a:tc>
                  <a:txBody>
                    <a:bodyPr/>
                    <a:lstStyle/>
                    <a:p>
                      <a:r>
                        <a:rPr lang="ru-RU" sz="1800" dirty="0"/>
                        <a:t>Вывоз крупногабаритного и строительного мусора</a:t>
                      </a:r>
                    </a:p>
                  </a:txBody>
                  <a:tcPr marL="35667" marR="35667" marT="17833" marB="17833" anchor="ctr"/>
                </a:tc>
                <a:extLst>
                  <a:ext uri="{0D108BD9-81ED-4DB2-BD59-A6C34878D82A}">
                    <a16:rowId xmlns:a16="http://schemas.microsoft.com/office/drawing/2014/main" val="2909554502"/>
                  </a:ext>
                </a:extLst>
              </a:tr>
              <a:tr h="1078256">
                <a:tc>
                  <a:txBody>
                    <a:bodyPr/>
                    <a:lstStyle/>
                    <a:p>
                      <a:r>
                        <a:rPr lang="ru-RU" sz="1800" b="1" dirty="0"/>
                        <a:t>Целевая аудитория</a:t>
                      </a:r>
                      <a:endParaRPr lang="ru-RU" sz="1800" dirty="0"/>
                    </a:p>
                  </a:txBody>
                  <a:tcPr marL="35667" marR="35667" marT="17833" marB="17833" anchor="ctr"/>
                </a:tc>
                <a:tc>
                  <a:txBody>
                    <a:bodyPr/>
                    <a:lstStyle/>
                    <a:p>
                      <a:r>
                        <a:rPr lang="ru-RU" sz="1800" dirty="0"/>
                        <a:t>Жители многоквартирных домов (</a:t>
                      </a:r>
                      <a:r>
                        <a:rPr lang="ru-RU" sz="1800" dirty="0" err="1"/>
                        <a:t>микрозаказы</a:t>
                      </a:r>
                      <a:r>
                        <a:rPr lang="ru-RU" sz="1800" dirty="0"/>
                        <a:t>)</a:t>
                      </a:r>
                    </a:p>
                  </a:txBody>
                  <a:tcPr marL="35667" marR="35667" marT="17833" marB="17833" anchor="ctr"/>
                </a:tc>
                <a:tc>
                  <a:txBody>
                    <a:bodyPr/>
                    <a:lstStyle/>
                    <a:p>
                      <a:r>
                        <a:rPr lang="ru-RU" sz="1800"/>
                        <a:t>Физлица, нуждающиеся в быстром вывозе</a:t>
                      </a:r>
                    </a:p>
                  </a:txBody>
                  <a:tcPr marL="35667" marR="35667" marT="17833" marB="17833" anchor="ctr"/>
                </a:tc>
                <a:tc>
                  <a:txBody>
                    <a:bodyPr/>
                    <a:lstStyle/>
                    <a:p>
                      <a:r>
                        <a:rPr lang="ru-RU" sz="1800" dirty="0"/>
                        <a:t>Физлица, офисы</a:t>
                      </a:r>
                    </a:p>
                  </a:txBody>
                  <a:tcPr marL="35667" marR="35667" marT="17833" marB="17833" anchor="ctr"/>
                </a:tc>
                <a:tc>
                  <a:txBody>
                    <a:bodyPr/>
                    <a:lstStyle/>
                    <a:p>
                      <a:r>
                        <a:rPr lang="ru-RU" sz="1800"/>
                        <a:t>Юридические лица, стройки</a:t>
                      </a:r>
                    </a:p>
                  </a:txBody>
                  <a:tcPr marL="35667" marR="35667" marT="17833" marB="17833" anchor="ctr"/>
                </a:tc>
                <a:extLst>
                  <a:ext uri="{0D108BD9-81ED-4DB2-BD59-A6C34878D82A}">
                    <a16:rowId xmlns:a16="http://schemas.microsoft.com/office/drawing/2014/main" val="2467197881"/>
                  </a:ext>
                </a:extLst>
              </a:tr>
              <a:tr h="674838">
                <a:tc>
                  <a:txBody>
                    <a:bodyPr/>
                    <a:lstStyle/>
                    <a:p>
                      <a:r>
                        <a:rPr lang="ru-RU" sz="1800" b="1"/>
                        <a:t>Стоимость для клиента</a:t>
                      </a:r>
                      <a:endParaRPr lang="ru-RU" sz="1800"/>
                    </a:p>
                  </a:txBody>
                  <a:tcPr marL="35667" marR="35667" marT="17833" marB="17833" anchor="ctr"/>
                </a:tc>
                <a:tc>
                  <a:txBody>
                    <a:bodyPr/>
                    <a:lstStyle/>
                    <a:p>
                      <a:r>
                        <a:rPr lang="ru-RU" sz="1800"/>
                        <a:t>Низкая (~100 руб. за пакет)</a:t>
                      </a:r>
                    </a:p>
                  </a:txBody>
                  <a:tcPr marL="35667" marR="35667" marT="17833" marB="17833" anchor="ctr"/>
                </a:tc>
                <a:tc>
                  <a:txBody>
                    <a:bodyPr/>
                    <a:lstStyle/>
                    <a:p>
                      <a:r>
                        <a:rPr lang="ru-RU" sz="1800" dirty="0"/>
                        <a:t>Средняя (от 300 руб.)</a:t>
                      </a:r>
                    </a:p>
                  </a:txBody>
                  <a:tcPr marL="35667" marR="35667" marT="17833" marB="17833" anchor="ctr"/>
                </a:tc>
                <a:tc>
                  <a:txBody>
                    <a:bodyPr/>
                    <a:lstStyle/>
                    <a:p>
                      <a:r>
                        <a:rPr lang="ru-RU" sz="1800" dirty="0"/>
                        <a:t>Высокая (от 500 руб.)</a:t>
                      </a:r>
                    </a:p>
                  </a:txBody>
                  <a:tcPr marL="35667" marR="35667" marT="17833" marB="17833" anchor="ctr"/>
                </a:tc>
                <a:tc>
                  <a:txBody>
                    <a:bodyPr/>
                    <a:lstStyle/>
                    <a:p>
                      <a:r>
                        <a:rPr lang="ru-RU" sz="1800"/>
                        <a:t>Очень высокая (от 1500 руб.)</a:t>
                      </a:r>
                    </a:p>
                  </a:txBody>
                  <a:tcPr marL="35667" marR="35667" marT="17833" marB="17833" anchor="ctr"/>
                </a:tc>
                <a:extLst>
                  <a:ext uri="{0D108BD9-81ED-4DB2-BD59-A6C34878D82A}">
                    <a16:rowId xmlns:a16="http://schemas.microsoft.com/office/drawing/2014/main" val="2452242638"/>
                  </a:ext>
                </a:extLst>
              </a:tr>
              <a:tr h="591791">
                <a:tc>
                  <a:txBody>
                    <a:bodyPr/>
                    <a:lstStyle/>
                    <a:p>
                      <a:r>
                        <a:rPr lang="ru-RU" sz="1800" b="1"/>
                        <a:t>Комиссия платформы</a:t>
                      </a:r>
                      <a:endParaRPr lang="ru-RU" sz="1800"/>
                    </a:p>
                  </a:txBody>
                  <a:tcPr marL="35667" marR="35667" marT="17833" marB="17833" anchor="ctr"/>
                </a:tc>
                <a:tc>
                  <a:txBody>
                    <a:bodyPr/>
                    <a:lstStyle/>
                    <a:p>
                      <a:r>
                        <a:rPr lang="ru-RU" sz="1800" dirty="0"/>
                        <a:t>15% с заказа</a:t>
                      </a:r>
                    </a:p>
                  </a:txBody>
                  <a:tcPr marL="35667" marR="35667" marT="17833" marB="17833" anchor="ctr"/>
                </a:tc>
                <a:tc>
                  <a:txBody>
                    <a:bodyPr/>
                    <a:lstStyle/>
                    <a:p>
                      <a:r>
                        <a:rPr lang="ru-RU" sz="1800"/>
                        <a:t>Не применимо</a:t>
                      </a:r>
                    </a:p>
                  </a:txBody>
                  <a:tcPr marL="35667" marR="35667" marT="17833" marB="17833" anchor="ctr"/>
                </a:tc>
                <a:tc>
                  <a:txBody>
                    <a:bodyPr/>
                    <a:lstStyle/>
                    <a:p>
                      <a:r>
                        <a:rPr lang="ru-RU" sz="1800"/>
                        <a:t>Не применимо</a:t>
                      </a:r>
                    </a:p>
                  </a:txBody>
                  <a:tcPr marL="35667" marR="35667" marT="17833" marB="17833" anchor="ctr"/>
                </a:tc>
                <a:tc>
                  <a:txBody>
                    <a:bodyPr/>
                    <a:lstStyle/>
                    <a:p>
                      <a:r>
                        <a:rPr lang="ru-RU" sz="1800"/>
                        <a:t>Не применимо</a:t>
                      </a:r>
                    </a:p>
                  </a:txBody>
                  <a:tcPr marL="35667" marR="35667" marT="17833" marB="17833" anchor="ctr"/>
                </a:tc>
                <a:extLst>
                  <a:ext uri="{0D108BD9-81ED-4DB2-BD59-A6C34878D82A}">
                    <a16:rowId xmlns:a16="http://schemas.microsoft.com/office/drawing/2014/main" val="2518956855"/>
                  </a:ext>
                </a:extLst>
              </a:tr>
              <a:tr h="982276">
                <a:tc>
                  <a:txBody>
                    <a:bodyPr/>
                    <a:lstStyle/>
                    <a:p>
                      <a:r>
                        <a:rPr lang="ru-RU" sz="1800" b="1"/>
                        <a:t>Юридические риски</a:t>
                      </a:r>
                      <a:endParaRPr lang="ru-RU" sz="1800"/>
                    </a:p>
                  </a:txBody>
                  <a:tcPr marL="35667" marR="35667" marT="17833" marB="17833" anchor="ctr"/>
                </a:tc>
                <a:tc>
                  <a:txBody>
                    <a:bodyPr/>
                    <a:lstStyle/>
                    <a:p>
                      <a:r>
                        <a:rPr lang="ru-RU" sz="1800"/>
                        <a:t>Средние (детский труд, ответственность)</a:t>
                      </a:r>
                    </a:p>
                  </a:txBody>
                  <a:tcPr marL="35667" marR="35667" marT="17833" marB="17833" anchor="ctr"/>
                </a:tc>
                <a:tc>
                  <a:txBody>
                    <a:bodyPr/>
                    <a:lstStyle/>
                    <a:p>
                      <a:r>
                        <a:rPr lang="ru-RU" sz="1800" dirty="0"/>
                        <a:t>Минимальные</a:t>
                      </a:r>
                    </a:p>
                  </a:txBody>
                  <a:tcPr marL="35667" marR="35667" marT="17833" marB="17833" anchor="ctr"/>
                </a:tc>
                <a:tc>
                  <a:txBody>
                    <a:bodyPr/>
                    <a:lstStyle/>
                    <a:p>
                      <a:r>
                        <a:rPr lang="ru-RU" sz="1800" dirty="0"/>
                        <a:t>Минимальные</a:t>
                      </a:r>
                    </a:p>
                  </a:txBody>
                  <a:tcPr marL="35667" marR="35667" marT="17833" marB="17833" anchor="ctr"/>
                </a:tc>
                <a:tc>
                  <a:txBody>
                    <a:bodyPr/>
                    <a:lstStyle/>
                    <a:p>
                      <a:r>
                        <a:rPr lang="ru-RU" sz="1800" dirty="0"/>
                        <a:t>Средние (лицензии на отходы)</a:t>
                      </a:r>
                    </a:p>
                  </a:txBody>
                  <a:tcPr marL="35667" marR="35667" marT="17833" marB="17833" anchor="ctr"/>
                </a:tc>
                <a:extLst>
                  <a:ext uri="{0D108BD9-81ED-4DB2-BD59-A6C34878D82A}">
                    <a16:rowId xmlns:a16="http://schemas.microsoft.com/office/drawing/2014/main" val="15546366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7759752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125C8EF-DBB8-F620-E011-2D0644E1A1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SWOT </a:t>
            </a:r>
            <a:r>
              <a:rPr lang="ru-RU" dirty="0"/>
              <a:t>анализ</a:t>
            </a:r>
          </a:p>
        </p:txBody>
      </p:sp>
      <p:graphicFrame>
        <p:nvGraphicFramePr>
          <p:cNvPr id="4" name="Объект 3">
            <a:extLst>
              <a:ext uri="{FF2B5EF4-FFF2-40B4-BE49-F238E27FC236}">
                <a16:creationId xmlns:a16="http://schemas.microsoft.com/office/drawing/2014/main" id="{77B037AF-26CF-0F39-C5CB-A350CEB7F15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002768909"/>
              </p:ext>
            </p:extLst>
          </p:nvPr>
        </p:nvGraphicFramePr>
        <p:xfrm>
          <a:off x="838199" y="1377755"/>
          <a:ext cx="10787744" cy="5239834"/>
        </p:xfrm>
        <a:graphic>
          <a:graphicData uri="http://schemas.openxmlformats.org/drawingml/2006/table">
            <a:tbl>
              <a:tblPr>
                <a:tableStyleId>{3C2FFA5D-87B4-456A-9821-1D502468CF0F}</a:tableStyleId>
              </a:tblPr>
              <a:tblGrid>
                <a:gridCol w="5393872">
                  <a:extLst>
                    <a:ext uri="{9D8B030D-6E8A-4147-A177-3AD203B41FA5}">
                      <a16:colId xmlns:a16="http://schemas.microsoft.com/office/drawing/2014/main" val="1403355990"/>
                    </a:ext>
                  </a:extLst>
                </a:gridCol>
                <a:gridCol w="5393872">
                  <a:extLst>
                    <a:ext uri="{9D8B030D-6E8A-4147-A177-3AD203B41FA5}">
                      <a16:colId xmlns:a16="http://schemas.microsoft.com/office/drawing/2014/main" val="3193626485"/>
                    </a:ext>
                  </a:extLst>
                </a:gridCol>
              </a:tblGrid>
              <a:tr h="269217">
                <a:tc>
                  <a:txBody>
                    <a:bodyPr/>
                    <a:lstStyle/>
                    <a:p>
                      <a:r>
                        <a:rPr lang="ru-RU" sz="1800" b="1" dirty="0"/>
                        <a:t>Сильные стороны </a:t>
                      </a:r>
                      <a:endParaRPr lang="en-US" sz="1800" dirty="0"/>
                    </a:p>
                  </a:txBody>
                  <a:tcPr marL="57254" marR="57254" marT="28627" marB="28627" anchor="ctr"/>
                </a:tc>
                <a:tc>
                  <a:txBody>
                    <a:bodyPr/>
                    <a:lstStyle/>
                    <a:p>
                      <a:r>
                        <a:rPr lang="ru-RU" sz="1800" b="1" dirty="0"/>
                        <a:t>Слабые стороны </a:t>
                      </a:r>
                      <a:endParaRPr lang="en-US" sz="1800" dirty="0"/>
                    </a:p>
                  </a:txBody>
                  <a:tcPr marL="57254" marR="57254" marT="28627" marB="28627" anchor="ctr"/>
                </a:tc>
                <a:extLst>
                  <a:ext uri="{0D108BD9-81ED-4DB2-BD59-A6C34878D82A}">
                    <a16:rowId xmlns:a16="http://schemas.microsoft.com/office/drawing/2014/main" val="337089865"/>
                  </a:ext>
                </a:extLst>
              </a:tr>
              <a:tr h="2086431">
                <a:tc>
                  <a:txBody>
                    <a:bodyPr/>
                    <a:lstStyle/>
                    <a:p>
                      <a:r>
                        <a:rPr lang="ru-RU" sz="1800" dirty="0"/>
                        <a:t>Самая низкая цена на рынке (≈100 руб. за пакет)</a:t>
                      </a:r>
                      <a:br>
                        <a:rPr lang="ru-RU" sz="1800" dirty="0"/>
                      </a:br>
                      <a:r>
                        <a:rPr lang="ru-RU" sz="1800" dirty="0"/>
                        <a:t>Минимальные затраты на запуск и ежемесячное обслуживание</a:t>
                      </a:r>
                      <a:br>
                        <a:rPr lang="ru-RU" sz="1800" dirty="0"/>
                      </a:br>
                      <a:r>
                        <a:rPr lang="ru-RU" sz="1800" dirty="0"/>
                        <a:t>Прозрачная комиссия 15%</a:t>
                      </a:r>
                      <a:br>
                        <a:rPr lang="ru-RU" sz="1800" dirty="0"/>
                      </a:br>
                      <a:r>
                        <a:rPr lang="ru-RU" sz="1800" dirty="0"/>
                        <a:t>Простая логистика – не нужен автопарк или штатные курьеры</a:t>
                      </a:r>
                    </a:p>
                  </a:txBody>
                  <a:tcPr marL="57254" marR="57254" marT="28627" marB="28627" anchor="ctr"/>
                </a:tc>
                <a:tc>
                  <a:txBody>
                    <a:bodyPr/>
                    <a:lstStyle/>
                    <a:p>
                      <a:r>
                        <a:rPr lang="ru-RU" sz="1800" dirty="0"/>
                        <a:t>Зависимость от добросовестности и пунктуальности школьников</a:t>
                      </a:r>
                      <a:br>
                        <a:rPr lang="ru-RU" sz="1800" dirty="0"/>
                      </a:br>
                      <a:r>
                        <a:rPr lang="ru-RU" sz="1800" dirty="0"/>
                        <a:t>Работает только в светлое время суток и с учётом занятости детей</a:t>
                      </a:r>
                      <a:br>
                        <a:rPr lang="ru-RU" sz="1800" dirty="0"/>
                      </a:br>
                      <a:r>
                        <a:rPr lang="ru-RU" sz="1800" dirty="0"/>
                        <a:t>Нет собственного юридического лица или договоров страхования (на старте)</a:t>
                      </a:r>
                      <a:br>
                        <a:rPr lang="ru-RU" sz="1800" dirty="0"/>
                      </a:br>
                      <a:r>
                        <a:rPr lang="ru-RU" sz="1800" dirty="0"/>
                        <a:t>Зависимость от </a:t>
                      </a:r>
                      <a:r>
                        <a:rPr lang="ru-RU" sz="1800" dirty="0" err="1"/>
                        <a:t>Telegram</a:t>
                      </a:r>
                      <a:r>
                        <a:rPr lang="ru-RU" sz="1800" dirty="0"/>
                        <a:t> и его доступности в РФ</a:t>
                      </a:r>
                    </a:p>
                  </a:txBody>
                  <a:tcPr marL="57254" marR="57254" marT="28627" marB="28627" anchor="ctr"/>
                </a:tc>
                <a:extLst>
                  <a:ext uri="{0D108BD9-81ED-4DB2-BD59-A6C34878D82A}">
                    <a16:rowId xmlns:a16="http://schemas.microsoft.com/office/drawing/2014/main" val="3775323253"/>
                  </a:ext>
                </a:extLst>
              </a:tr>
              <a:tr h="269217">
                <a:tc>
                  <a:txBody>
                    <a:bodyPr/>
                    <a:lstStyle/>
                    <a:p>
                      <a:r>
                        <a:rPr lang="ru-RU" sz="1800" b="1" dirty="0"/>
                        <a:t>Возможности</a:t>
                      </a:r>
                      <a:endParaRPr lang="en-US" sz="1800" dirty="0"/>
                    </a:p>
                  </a:txBody>
                  <a:tcPr marL="57254" marR="57254" marT="28627" marB="28627" anchor="ctr"/>
                </a:tc>
                <a:tc>
                  <a:txBody>
                    <a:bodyPr/>
                    <a:lstStyle/>
                    <a:p>
                      <a:r>
                        <a:rPr lang="ru-RU" sz="1800" b="1" dirty="0"/>
                        <a:t>Угрозы</a:t>
                      </a:r>
                      <a:endParaRPr lang="en-US" sz="1800" dirty="0"/>
                    </a:p>
                  </a:txBody>
                  <a:tcPr marL="57254" marR="57254" marT="28627" marB="28627" anchor="ctr"/>
                </a:tc>
                <a:extLst>
                  <a:ext uri="{0D108BD9-81ED-4DB2-BD59-A6C34878D82A}">
                    <a16:rowId xmlns:a16="http://schemas.microsoft.com/office/drawing/2014/main" val="1426591634"/>
                  </a:ext>
                </a:extLst>
              </a:tr>
              <a:tr h="2490255">
                <a:tc>
                  <a:txBody>
                    <a:bodyPr/>
                    <a:lstStyle/>
                    <a:p>
                      <a:r>
                        <a:rPr lang="ru-RU" sz="1800" dirty="0"/>
                        <a:t>Сезонный пик летом – каникулы + отпуска + ремонты</a:t>
                      </a:r>
                      <a:br>
                        <a:rPr lang="ru-RU" sz="1800" dirty="0"/>
                      </a:br>
                      <a:r>
                        <a:rPr lang="ru-RU" sz="1800" dirty="0"/>
                        <a:t>Интеграция с домовыми чатами и районными </a:t>
                      </a:r>
                      <a:r>
                        <a:rPr lang="ru-RU" sz="1800" dirty="0" err="1"/>
                        <a:t>пабликами</a:t>
                      </a:r>
                      <a:endParaRPr lang="ru-RU" sz="1800" dirty="0"/>
                    </a:p>
                  </a:txBody>
                  <a:tcPr marL="57254" marR="57254" marT="28627" marB="28627" anchor="ctr"/>
                </a:tc>
                <a:tc>
                  <a:txBody>
                    <a:bodyPr/>
                    <a:lstStyle/>
                    <a:p>
                      <a:r>
                        <a:rPr lang="ru-RU" sz="1800" dirty="0"/>
                        <a:t>Юридические риски – претензии родителей или проверки детского труда</a:t>
                      </a:r>
                      <a:br>
                        <a:rPr lang="ru-RU" sz="1800" dirty="0"/>
                      </a:br>
                      <a:r>
                        <a:rPr lang="ru-RU" sz="1800" dirty="0"/>
                        <a:t>Негативный инцидент (кража, потеря пакета) – удар по репутации</a:t>
                      </a:r>
                      <a:br>
                        <a:rPr lang="ru-RU" sz="1800" dirty="0"/>
                      </a:br>
                      <a:r>
                        <a:rPr lang="ru-RU" sz="1800" dirty="0"/>
                        <a:t>Сезонный спад осенью/зимой (школьники заняты учёбой)</a:t>
                      </a:r>
                    </a:p>
                  </a:txBody>
                  <a:tcPr marL="57254" marR="57254" marT="28627" marB="28627" anchor="ctr"/>
                </a:tc>
                <a:extLst>
                  <a:ext uri="{0D108BD9-81ED-4DB2-BD59-A6C34878D82A}">
                    <a16:rowId xmlns:a16="http://schemas.microsoft.com/office/drawing/2014/main" val="348406254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625534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55A8FA9-6410-C6B5-4F0D-C9A483F20D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Таблица рисков</a:t>
            </a:r>
          </a:p>
        </p:txBody>
      </p:sp>
      <p:graphicFrame>
        <p:nvGraphicFramePr>
          <p:cNvPr id="4" name="Объект 3">
            <a:extLst>
              <a:ext uri="{FF2B5EF4-FFF2-40B4-BE49-F238E27FC236}">
                <a16:creationId xmlns:a16="http://schemas.microsoft.com/office/drawing/2014/main" id="{D201C51D-84CB-71E9-CDC4-DEB6BA70873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430122147"/>
              </p:ext>
            </p:extLst>
          </p:nvPr>
        </p:nvGraphicFramePr>
        <p:xfrm>
          <a:off x="1035698" y="1505124"/>
          <a:ext cx="10086390" cy="4749776"/>
        </p:xfrm>
        <a:graphic>
          <a:graphicData uri="http://schemas.openxmlformats.org/drawingml/2006/table">
            <a:tbl>
              <a:tblPr>
                <a:tableStyleId>{3C2FFA5D-87B4-456A-9821-1D502468CF0F}</a:tableStyleId>
              </a:tblPr>
              <a:tblGrid>
                <a:gridCol w="2017278">
                  <a:extLst>
                    <a:ext uri="{9D8B030D-6E8A-4147-A177-3AD203B41FA5}">
                      <a16:colId xmlns:a16="http://schemas.microsoft.com/office/drawing/2014/main" val="756332810"/>
                    </a:ext>
                  </a:extLst>
                </a:gridCol>
                <a:gridCol w="2017278">
                  <a:extLst>
                    <a:ext uri="{9D8B030D-6E8A-4147-A177-3AD203B41FA5}">
                      <a16:colId xmlns:a16="http://schemas.microsoft.com/office/drawing/2014/main" val="2406187434"/>
                    </a:ext>
                  </a:extLst>
                </a:gridCol>
                <a:gridCol w="2017278">
                  <a:extLst>
                    <a:ext uri="{9D8B030D-6E8A-4147-A177-3AD203B41FA5}">
                      <a16:colId xmlns:a16="http://schemas.microsoft.com/office/drawing/2014/main" val="1166526334"/>
                    </a:ext>
                  </a:extLst>
                </a:gridCol>
                <a:gridCol w="2017278">
                  <a:extLst>
                    <a:ext uri="{9D8B030D-6E8A-4147-A177-3AD203B41FA5}">
                      <a16:colId xmlns:a16="http://schemas.microsoft.com/office/drawing/2014/main" val="4117564913"/>
                    </a:ext>
                  </a:extLst>
                </a:gridCol>
                <a:gridCol w="2017278">
                  <a:extLst>
                    <a:ext uri="{9D8B030D-6E8A-4147-A177-3AD203B41FA5}">
                      <a16:colId xmlns:a16="http://schemas.microsoft.com/office/drawing/2014/main" val="3188962569"/>
                    </a:ext>
                  </a:extLst>
                </a:gridCol>
              </a:tblGrid>
              <a:tr h="256695">
                <a:tc>
                  <a:txBody>
                    <a:bodyPr/>
                    <a:lstStyle/>
                    <a:p>
                      <a:r>
                        <a:rPr lang="ru-RU" sz="1600" b="1"/>
                        <a:t>Категория риска</a:t>
                      </a:r>
                      <a:endParaRPr lang="ru-RU" sz="1600"/>
                    </a:p>
                  </a:txBody>
                  <a:tcPr marL="29204" marR="29204" marT="14602" marB="14602" anchor="ctr"/>
                </a:tc>
                <a:tc>
                  <a:txBody>
                    <a:bodyPr/>
                    <a:lstStyle/>
                    <a:p>
                      <a:r>
                        <a:rPr lang="ru-RU" sz="1600" b="1"/>
                        <a:t>Описание риска</a:t>
                      </a:r>
                      <a:endParaRPr lang="ru-RU" sz="1600"/>
                    </a:p>
                  </a:txBody>
                  <a:tcPr marL="29204" marR="29204" marT="14602" marB="14602" anchor="ctr"/>
                </a:tc>
                <a:tc>
                  <a:txBody>
                    <a:bodyPr/>
                    <a:lstStyle/>
                    <a:p>
                      <a:r>
                        <a:rPr lang="ru-RU" sz="1600" b="1"/>
                        <a:t>Вероятность</a:t>
                      </a:r>
                      <a:endParaRPr lang="ru-RU" sz="1600"/>
                    </a:p>
                  </a:txBody>
                  <a:tcPr marL="29204" marR="29204" marT="14602" marB="14602" anchor="ctr"/>
                </a:tc>
                <a:tc>
                  <a:txBody>
                    <a:bodyPr/>
                    <a:lstStyle/>
                    <a:p>
                      <a:r>
                        <a:rPr lang="ru-RU" sz="1600" b="1" dirty="0"/>
                        <a:t>Влияние на бизнес</a:t>
                      </a:r>
                      <a:endParaRPr lang="ru-RU" sz="1600" dirty="0"/>
                    </a:p>
                  </a:txBody>
                  <a:tcPr marL="29204" marR="29204" marT="14602" marB="14602" anchor="ctr"/>
                </a:tc>
                <a:tc>
                  <a:txBody>
                    <a:bodyPr/>
                    <a:lstStyle/>
                    <a:p>
                      <a:r>
                        <a:rPr lang="ru-RU" sz="1600" b="1"/>
                        <a:t>Стратегия минимизации</a:t>
                      </a:r>
                      <a:endParaRPr lang="ru-RU" sz="1600"/>
                    </a:p>
                  </a:txBody>
                  <a:tcPr marL="29204" marR="29204" marT="14602" marB="14602" anchor="ctr"/>
                </a:tc>
                <a:extLst>
                  <a:ext uri="{0D108BD9-81ED-4DB2-BD59-A6C34878D82A}">
                    <a16:rowId xmlns:a16="http://schemas.microsoft.com/office/drawing/2014/main" val="382656774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ru-RU" sz="1600" b="1"/>
                        <a:t>Юридический</a:t>
                      </a:r>
                      <a:endParaRPr lang="ru-RU" sz="1600"/>
                    </a:p>
                  </a:txBody>
                  <a:tcPr marL="29204" marR="29204" marT="14602" marB="14602"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Претензии со стороны родителей школьников или регулирующих органов по поводу детского труда.</a:t>
                      </a:r>
                    </a:p>
                  </a:txBody>
                  <a:tcPr marL="29204" marR="29204" marT="14602" marB="14602" anchor="ctr"/>
                </a:tc>
                <a:tc>
                  <a:txBody>
                    <a:bodyPr/>
                    <a:lstStyle/>
                    <a:p>
                      <a:r>
                        <a:rPr lang="ru-RU" sz="1600"/>
                        <a:t>Средняя</a:t>
                      </a:r>
                    </a:p>
                  </a:txBody>
                  <a:tcPr marL="29204" marR="29204" marT="14602" marB="14602" anchor="ctr"/>
                </a:tc>
                <a:tc>
                  <a:txBody>
                    <a:bodyPr/>
                    <a:lstStyle/>
                    <a:p>
                      <a:r>
                        <a:rPr lang="ru-RU" sz="1600"/>
                        <a:t>Высокое (вплоть до блокировки)</a:t>
                      </a:r>
                    </a:p>
                  </a:txBody>
                  <a:tcPr marL="29204" marR="29204" marT="14602" marB="14602" anchor="ctr"/>
                </a:tc>
                <a:tc>
                  <a:txBody>
                    <a:bodyPr/>
                    <a:lstStyle/>
                    <a:p>
                      <a:r>
                        <a:rPr lang="ru-RU" sz="1600" b="0" dirty="0"/>
                        <a:t>Добавить раздел в пользовательское соглашение с отказом от ответственности. </a:t>
                      </a:r>
                    </a:p>
                  </a:txBody>
                  <a:tcPr marL="29204" marR="29204" marT="14602" marB="14602" anchor="ctr"/>
                </a:tc>
                <a:extLst>
                  <a:ext uri="{0D108BD9-81ED-4DB2-BD59-A6C34878D82A}">
                    <a16:rowId xmlns:a16="http://schemas.microsoft.com/office/drawing/2014/main" val="1217503295"/>
                  </a:ext>
                </a:extLst>
              </a:tr>
              <a:tr h="522212">
                <a:tc>
                  <a:txBody>
                    <a:bodyPr/>
                    <a:lstStyle/>
                    <a:p>
                      <a:r>
                        <a:rPr lang="ru-RU" sz="1600" b="1"/>
                        <a:t>Операционный</a:t>
                      </a:r>
                      <a:endParaRPr lang="ru-RU" sz="1600"/>
                    </a:p>
                  </a:txBody>
                  <a:tcPr marL="29204" marR="29204" marT="14602" marB="14602"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Школьник не вышел на заказ или украл пакет с ценными вещами.</a:t>
                      </a:r>
                    </a:p>
                  </a:txBody>
                  <a:tcPr marL="29204" marR="29204" marT="14602" marB="14602" anchor="ctr"/>
                </a:tc>
                <a:tc>
                  <a:txBody>
                    <a:bodyPr/>
                    <a:lstStyle/>
                    <a:p>
                      <a:r>
                        <a:rPr lang="ru-RU" sz="1600"/>
                        <a:t>Низкая</a:t>
                      </a:r>
                    </a:p>
                  </a:txBody>
                  <a:tcPr marL="29204" marR="29204" marT="14602" marB="14602" anchor="ctr"/>
                </a:tc>
                <a:tc>
                  <a:txBody>
                    <a:bodyPr/>
                    <a:lstStyle/>
                    <a:p>
                      <a:r>
                        <a:rPr lang="ru-RU" sz="1600"/>
                        <a:t>Среднее (репутационные потери)</a:t>
                      </a:r>
                    </a:p>
                  </a:txBody>
                  <a:tcPr marL="29204" marR="29204" marT="14602" marB="14602" anchor="ctr"/>
                </a:tc>
                <a:tc>
                  <a:txBody>
                    <a:bodyPr/>
                    <a:lstStyle/>
                    <a:p>
                      <a:r>
                        <a:rPr lang="ru-RU" sz="1600" b="0" dirty="0"/>
                        <a:t>Двойная система верификации. Внедрить рейтинг исполнителей.</a:t>
                      </a:r>
                    </a:p>
                  </a:txBody>
                  <a:tcPr marL="29204" marR="29204" marT="14602" marB="14602" anchor="ctr"/>
                </a:tc>
                <a:extLst>
                  <a:ext uri="{0D108BD9-81ED-4DB2-BD59-A6C34878D82A}">
                    <a16:rowId xmlns:a16="http://schemas.microsoft.com/office/drawing/2014/main" val="4191019831"/>
                  </a:ext>
                </a:extLst>
              </a:tr>
              <a:tr h="1087929">
                <a:tc>
                  <a:txBody>
                    <a:bodyPr/>
                    <a:lstStyle/>
                    <a:p>
                      <a:r>
                        <a:rPr lang="ru-RU" sz="1600" b="1" dirty="0"/>
                        <a:t>Рыночный</a:t>
                      </a:r>
                      <a:endParaRPr lang="ru-RU" sz="1600" dirty="0"/>
                    </a:p>
                  </a:txBody>
                  <a:tcPr marL="29204" marR="29204" marT="14602" marB="14602" anchor="ctr"/>
                </a:tc>
                <a:tc>
                  <a:txBody>
                    <a:bodyPr/>
                    <a:lstStyle/>
                    <a:p>
                      <a:r>
                        <a:rPr lang="ru-RU" sz="1600"/>
                        <a:t>Отсутствие спроса или появление сильного конкурента с таким же УТП.</a:t>
                      </a:r>
                    </a:p>
                  </a:txBody>
                  <a:tcPr marL="29204" marR="29204" marT="14602" marB="14602"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Низкая</a:t>
                      </a:r>
                    </a:p>
                  </a:txBody>
                  <a:tcPr marL="29204" marR="29204" marT="14602" marB="14602"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Среднее</a:t>
                      </a:r>
                    </a:p>
                  </a:txBody>
                  <a:tcPr marL="29204" marR="29204" marT="14602" marB="14602"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начать с 2-3 густонаселённых спальных районов, стать там монополистом, прежде чем расширяться.</a:t>
                      </a:r>
                    </a:p>
                  </a:txBody>
                  <a:tcPr marL="29204" marR="29204" marT="14602" marB="14602" anchor="ctr"/>
                </a:tc>
                <a:extLst>
                  <a:ext uri="{0D108BD9-81ED-4DB2-BD59-A6C34878D82A}">
                    <a16:rowId xmlns:a16="http://schemas.microsoft.com/office/drawing/2014/main" val="383665699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8116098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7342DC8B-EE67-6434-593A-ED4326253C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82350" y="1825625"/>
            <a:ext cx="10571583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6600" dirty="0"/>
              <a:t>СПАСИБО ЗА ВНИМАНИЕ</a:t>
            </a:r>
          </a:p>
        </p:txBody>
      </p:sp>
    </p:spTree>
    <p:extLst>
      <p:ext uri="{BB962C8B-B14F-4D97-AF65-F5344CB8AC3E}">
        <p14:creationId xmlns:p14="http://schemas.microsoft.com/office/powerpoint/2010/main" val="216710015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721</TotalTime>
  <Words>426</Words>
  <Application>Microsoft Office PowerPoint</Application>
  <PresentationFormat>Широкоэкранный</PresentationFormat>
  <Paragraphs>75</Paragraphs>
  <Slides>9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9</vt:i4>
      </vt:variant>
    </vt:vector>
  </HeadingPairs>
  <TitlesOfParts>
    <vt:vector size="13" baseType="lpstr">
      <vt:lpstr>Aptos</vt:lpstr>
      <vt:lpstr>Aptos Display</vt:lpstr>
      <vt:lpstr>Arial</vt:lpstr>
      <vt:lpstr>Тема Office</vt:lpstr>
      <vt:lpstr>TrashOut – Проект Константина Евстигнеева</vt:lpstr>
      <vt:lpstr>Проблемы </vt:lpstr>
      <vt:lpstr>Решение</vt:lpstr>
      <vt:lpstr>Экономическая составляющая</vt:lpstr>
      <vt:lpstr>Сезонность</vt:lpstr>
      <vt:lpstr>Конкурентный анализ</vt:lpstr>
      <vt:lpstr>SWOT анализ</vt:lpstr>
      <vt:lpstr>Таблица рисков</vt:lpstr>
      <vt:lpstr>Презентация PowerPoint</vt:lpstr>
    </vt:vector>
  </TitlesOfParts>
  <Company>LightKey.Store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Seab</dc:creator>
  <cp:lastModifiedBy>Seab</cp:lastModifiedBy>
  <cp:revision>12</cp:revision>
  <dcterms:created xsi:type="dcterms:W3CDTF">2026-04-23T06:48:50Z</dcterms:created>
  <dcterms:modified xsi:type="dcterms:W3CDTF">2026-05-02T04:09:02Z</dcterms:modified>
</cp:coreProperties>
</file>