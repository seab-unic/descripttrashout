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9" r:id="rId1"/>
  </p:sldMasterIdLst>
  <p:sldIdLst>
    <p:sldId id="256" r:id="rId2"/>
    <p:sldId id="257" r:id="rId3"/>
    <p:sldId id="258" r:id="rId4"/>
    <p:sldId id="259" r:id="rId5"/>
    <p:sldId id="263" r:id="rId6"/>
    <p:sldId id="264" r:id="rId7"/>
    <p:sldId id="262" r:id="rId8"/>
    <p:sldId id="261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F2BFB7-F91D-1621-F632-7A79CAB0EC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EDCF344-0346-8E0A-E573-F971D2B6D7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0F2F98D-608B-DD22-A036-63F40990D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1AE8B-867D-4ABC-BE86-AE9540E29DB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302D920-1D64-F3A1-E359-D57E02CEA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3C743DC-1950-FDE0-BD4B-D1D300CB8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966BC-1A21-4DC8-A497-CCFECAD326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9445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E015D1-BC75-FAAF-777F-D6B8EFC53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5F702D0-8FCC-6D24-2100-5A76592D0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C7606B6-5053-64F1-F597-3849C9ADE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1AE8B-867D-4ABC-BE86-AE9540E29DB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87449CA-3708-D0FC-14E0-34E73E37B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10F0789-9A09-3D08-A133-730ED383D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966BC-1A21-4DC8-A497-CCFECAD326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5187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5D3F61-DC6D-BBCC-26EB-17DF1439F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83FAA22-50B6-C2D4-0AF6-9998B098CB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0A6BEE5-D8A7-7B28-EF9B-BDFBE0259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1AE8B-867D-4ABC-BE86-AE9540E29DB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BAB8B7A-BACF-D39A-433B-9256DD9DF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C60AFF-E84D-FBFB-2997-EA1B76453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966BC-1A21-4DC8-A497-CCFECAD326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152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6A5ECB-D967-E967-06F5-9DEEEE6BC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1D376F7-3F4E-16B5-7FA5-57CA32857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A0FD536-1155-220E-796D-1BFC1EAB23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BFFB3A3-A4BC-0CF8-4520-90C52750F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1AE8B-867D-4ABC-BE86-AE9540E29DB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E84EE1E-1C7C-8E92-FD74-E190BCABF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7202141-B1AC-A752-6D77-A95F05521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966BC-1A21-4DC8-A497-CCFECAD326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834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3865AD-C807-0643-DA77-598C5BFF7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531191B-2D67-4911-F0F4-ECC10EB322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0872247-AE4A-0E48-80B3-B9FA3565AF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7A11929-DEBF-27D7-49E0-AE8EFA7031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7C78FB2-46A4-5FF4-2436-11E2335D8F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D5114C4-E55D-3629-795A-23D662A67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1AE8B-867D-4ABC-BE86-AE9540E29DB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B70FBAED-8B73-E4DE-4EE6-9155EDB1D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E5609D2-3B20-6853-ED58-F41AF2952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966BC-1A21-4DC8-A497-CCFECAD326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585865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6D1FB6-F200-C71D-0BEE-1C9B48EF4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DDE0F8A-4CA2-1FA5-ACC4-0ABEA9FD1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1AE8B-867D-4ABC-BE86-AE9540E29DB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87A5656-7D46-D09F-47C5-F8DDB88B8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36AA2B9-73FB-0BD0-40C0-02E942D55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966BC-1A21-4DC8-A497-CCFECAD326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30854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FFBE996-19FE-002F-6993-B951DF7AC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1AE8B-867D-4ABC-BE86-AE9540E29DB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37EFC58-AF7D-BACA-66B2-E82B53847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13D6852-00AB-3C62-5CFC-68D03F235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966BC-1A21-4DC8-A497-CCFECAD326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0077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D96485-07A8-3FA6-6415-57B3EDB32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715926C-8A05-5986-80EA-B021C3E6C6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2618F95-940E-0038-8109-1325A6B51A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8202FBC-7463-0E78-FDCE-A8D56917D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1AE8B-867D-4ABC-BE86-AE9540E29DB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8F91063-F974-E3CE-5083-4B12F55BD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95C3842-6BA5-010F-2071-FDAB3E9F8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966BC-1A21-4DC8-A497-CCFECAD326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1422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879FAB-06F5-AF36-9F45-A4EF9B8FA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2474E58-F493-4CA5-0D47-7562D0C871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2296F99-BE30-36D7-6EF7-ED87423C13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37E6DAB-3125-AF2A-7AC7-3761D152B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1AE8B-867D-4ABC-BE86-AE9540E29DB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95CF63C-8BD2-DF43-DEA7-1704B090D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150394F-3376-4B94-0070-2482296B0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966BC-1A21-4DC8-A497-CCFECAD326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66835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6A6C37-518B-F584-EB96-F541F9891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80AEC68-E376-07E4-FAFA-9B495FE00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AE93F4B-A4DC-4659-C7BC-8DA0A9343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1AE8B-867D-4ABC-BE86-AE9540E29DB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540DE03-CF3F-6F8E-EA7F-8F5FBF2ED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EE7A3B-CF0E-50A0-BD36-D3ACAC890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966BC-1A21-4DC8-A497-CCFECAD326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8860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E915EDF0-4F78-0C91-6DFF-B596942B8C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F48BFDD-F47E-39F5-1718-4E2F3B7C7B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9E2FE49-E0A0-0DE2-9CC8-06BBB2DDA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1AE8B-867D-4ABC-BE86-AE9540E29DB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7A94B45-5096-979D-769D-12880CBC5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1095E6A-053D-CC77-0785-533768CFE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1966BC-1A21-4DC8-A497-CCFECAD326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4718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5B50732-1908-92B9-FB58-AA4301826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561A56C-5866-2A92-1E51-C4BA8AAA6F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556589A-1E0C-464B-B156-089E29DBC9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21AE8B-867D-4ABC-BE86-AE9540E29DBF}" type="datetimeFigureOut">
              <a:rPr lang="ru-RU" smtClean="0"/>
              <a:t>25.04.2026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A8BE28D-D270-21AE-2321-EEDB8AB113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7857151-04C4-EF28-B39F-B749C34B64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1966BC-1A21-4DC8-A497-CCFECAD326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5277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11E3F2-BB6F-F7A6-9DD7-61456AF8AE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TrashOut</a:t>
            </a:r>
            <a:r>
              <a:rPr lang="en-US" dirty="0"/>
              <a:t> – </a:t>
            </a:r>
            <a:r>
              <a:rPr lang="ru-RU" dirty="0"/>
              <a:t>Проект Константина Евстигнеева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C442E37-F609-F809-73EE-6C6F0FD39DA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Константин Евстигнеев </a:t>
            </a:r>
            <a:r>
              <a:rPr lang="en-US" dirty="0"/>
              <a:t>||</a:t>
            </a:r>
            <a:r>
              <a:rPr lang="ru-RU" dirty="0"/>
              <a:t> ИИ71</a:t>
            </a:r>
          </a:p>
        </p:txBody>
      </p:sp>
    </p:spTree>
    <p:extLst>
      <p:ext uri="{BB962C8B-B14F-4D97-AF65-F5344CB8AC3E}">
        <p14:creationId xmlns:p14="http://schemas.microsoft.com/office/powerpoint/2010/main" val="1149207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5E2F9D-62DD-AF87-5641-A3729B798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мой проект из себя представляет?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D0F87FF-3200-9D05-A649-20C1A99C31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51849" cy="4351338"/>
          </a:xfrm>
        </p:spPr>
        <p:txBody>
          <a:bodyPr>
            <a:normAutofit/>
          </a:bodyPr>
          <a:lstStyle/>
          <a:p>
            <a:r>
              <a:rPr lang="ru-RU" dirty="0"/>
              <a:t>Мой проект - платформа в </a:t>
            </a:r>
            <a:r>
              <a:rPr lang="ru-RU" dirty="0" err="1"/>
              <a:t>Telegram</a:t>
            </a:r>
            <a:r>
              <a:rPr lang="ru-RU" dirty="0"/>
              <a:t>, где школьники берут </a:t>
            </a:r>
            <a:r>
              <a:rPr lang="ru-RU" dirty="0" err="1"/>
              <a:t>микрозаказы</a:t>
            </a:r>
            <a:r>
              <a:rPr lang="ru-RU" dirty="0"/>
              <a:t> у соседей на вынос мусора. </a:t>
            </a:r>
          </a:p>
        </p:txBody>
      </p:sp>
      <p:pic>
        <p:nvPicPr>
          <p:cNvPr id="1026" name="Picture 2" descr="Фотографии на тему «Курьер» — скачивайте бесплатные изображения высокого  качества | Freepik">
            <a:extLst>
              <a:ext uri="{FF2B5EF4-FFF2-40B4-BE49-F238E27FC236}">
                <a16:creationId xmlns:a16="http://schemas.microsoft.com/office/drawing/2014/main" id="{1A88A005-64FA-1B2B-AB2D-33FF393CDA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0049" y="1825625"/>
            <a:ext cx="5178672" cy="3446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DC0ACC43-D664-37DC-F57A-33BE00C7D14C}"/>
              </a:ext>
            </a:extLst>
          </p:cNvPr>
          <p:cNvCxnSpPr/>
          <p:nvPr/>
        </p:nvCxnSpPr>
        <p:spPr>
          <a:xfrm flipH="1">
            <a:off x="10151706" y="2911151"/>
            <a:ext cx="774441" cy="667139"/>
          </a:xfrm>
          <a:prstGeom prst="straightConnector1">
            <a:avLst/>
          </a:prstGeom>
          <a:ln w="19050" cap="flat" cmpd="sng" algn="ctr">
            <a:solidFill>
              <a:srgbClr val="C0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2C4B62E-D640-75B0-CC08-578C88E861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2599" y="2357839"/>
            <a:ext cx="1181265" cy="485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696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2BFEDC-28B4-E922-41A2-3C82CF1FE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Экономическая составляющая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A455A7-A12E-2048-801F-C1F182544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7984" y="1778972"/>
            <a:ext cx="5872065" cy="4351338"/>
          </a:xfrm>
        </p:spPr>
        <p:txBody>
          <a:bodyPr>
            <a:normAutofit/>
          </a:bodyPr>
          <a:lstStyle/>
          <a:p>
            <a:r>
              <a:rPr lang="ru-RU" dirty="0"/>
              <a:t>Рентабельность обеспечивается низкими затратами на запуск Комиссия покрывает расходы.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116660-F5C2-7997-3076-E86C289993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049" y="1557076"/>
            <a:ext cx="5220429" cy="3743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63955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E4D03F-B279-33E8-9E5B-B186C265B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Сезонность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1990373-E690-9C53-1B64-35C62D15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lang="ru-RU" dirty="0"/>
              <a:t>Лето - пиковый сезон для сервиса: у школьников каникулы (больше времени для работы), а сезон отпусков и ремонтов увеличивает спрос на вывоз мусора.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C815A2E4-12D6-B924-D0D1-C4EFDA724E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3909" y="1928264"/>
            <a:ext cx="5577749" cy="3110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4205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15F0C1-8D91-CA0D-4C00-010D8D706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Конкурентный анализ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BB36DCFB-6536-0286-3BF9-F1EF81959F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152909"/>
              </p:ext>
            </p:extLst>
          </p:nvPr>
        </p:nvGraphicFramePr>
        <p:xfrm>
          <a:off x="838200" y="1352939"/>
          <a:ext cx="10703766" cy="534663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1783961">
                  <a:extLst>
                    <a:ext uri="{9D8B030D-6E8A-4147-A177-3AD203B41FA5}">
                      <a16:colId xmlns:a16="http://schemas.microsoft.com/office/drawing/2014/main" val="812569972"/>
                    </a:ext>
                  </a:extLst>
                </a:gridCol>
                <a:gridCol w="1783961">
                  <a:extLst>
                    <a:ext uri="{9D8B030D-6E8A-4147-A177-3AD203B41FA5}">
                      <a16:colId xmlns:a16="http://schemas.microsoft.com/office/drawing/2014/main" val="4120129658"/>
                    </a:ext>
                  </a:extLst>
                </a:gridCol>
                <a:gridCol w="1783961">
                  <a:extLst>
                    <a:ext uri="{9D8B030D-6E8A-4147-A177-3AD203B41FA5}">
                      <a16:colId xmlns:a16="http://schemas.microsoft.com/office/drawing/2014/main" val="1201958830"/>
                    </a:ext>
                  </a:extLst>
                </a:gridCol>
                <a:gridCol w="1783961">
                  <a:extLst>
                    <a:ext uri="{9D8B030D-6E8A-4147-A177-3AD203B41FA5}">
                      <a16:colId xmlns:a16="http://schemas.microsoft.com/office/drawing/2014/main" val="3572462965"/>
                    </a:ext>
                  </a:extLst>
                </a:gridCol>
                <a:gridCol w="1783961">
                  <a:extLst>
                    <a:ext uri="{9D8B030D-6E8A-4147-A177-3AD203B41FA5}">
                      <a16:colId xmlns:a16="http://schemas.microsoft.com/office/drawing/2014/main" val="519290226"/>
                    </a:ext>
                  </a:extLst>
                </a:gridCol>
                <a:gridCol w="1783961">
                  <a:extLst>
                    <a:ext uri="{9D8B030D-6E8A-4147-A177-3AD203B41FA5}">
                      <a16:colId xmlns:a16="http://schemas.microsoft.com/office/drawing/2014/main" val="1078457532"/>
                    </a:ext>
                  </a:extLst>
                </a:gridCol>
              </a:tblGrid>
              <a:tr h="352026">
                <a:tc>
                  <a:txBody>
                    <a:bodyPr/>
                    <a:lstStyle/>
                    <a:p>
                      <a:r>
                        <a:rPr lang="ru-RU" sz="1200" dirty="0"/>
                        <a:t>Критерий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TrashOut</a:t>
                      </a:r>
                      <a:endParaRPr lang="en-US" sz="120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МусорОФФ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Убиратор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Экологистика / Баласка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Соцпроекты (Чистоплюйка)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1201525749"/>
                  </a:ext>
                </a:extLst>
              </a:tr>
              <a:tr h="676899">
                <a:tc>
                  <a:txBody>
                    <a:bodyPr/>
                    <a:lstStyle/>
                    <a:p>
                      <a:r>
                        <a:rPr lang="ru-RU" sz="1200" b="1"/>
                        <a:t>Тип сервиса</a:t>
                      </a:r>
                      <a:endParaRPr lang="ru-RU" sz="120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Агрегатор микрозаказов в </a:t>
                      </a:r>
                      <a:r>
                        <a:rPr lang="en-US" sz="1200"/>
                        <a:t>Telegram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Вывоз мусора курьерами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B2B/B2C </a:t>
                      </a:r>
                      <a:r>
                        <a:rPr lang="ru-RU" sz="1200"/>
                        <a:t>вывоз отходов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Вывоз крупногабаритного и строительного мусора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Волонтёрские / некоммерческие инициативы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2909554502"/>
                  </a:ext>
                </a:extLst>
              </a:tr>
              <a:tr h="514463">
                <a:tc>
                  <a:txBody>
                    <a:bodyPr/>
                    <a:lstStyle/>
                    <a:p>
                      <a:r>
                        <a:rPr lang="ru-RU" sz="1200" b="1"/>
                        <a:t>Целевая аудитория</a:t>
                      </a:r>
                      <a:endParaRPr lang="ru-RU" sz="120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Жители многоквартирных домов (микрозаказы)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Физлица, нуждающиеся в быстром вывозе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Физлица, офисы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Юридические лица, стройки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Экоактивисты, локальные сообщества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2467197881"/>
                  </a:ext>
                </a:extLst>
              </a:tr>
              <a:tr h="514463">
                <a:tc>
                  <a:txBody>
                    <a:bodyPr/>
                    <a:lstStyle/>
                    <a:p>
                      <a:r>
                        <a:rPr lang="ru-RU" sz="1200" b="1"/>
                        <a:t>Исполнители</a:t>
                      </a:r>
                      <a:endParaRPr lang="ru-RU" sz="120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Школьники (живут в том же доме/подъезде)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Штатные курьеры или самозанятые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Штатные сотрудники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Наёмные водители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Волонтёры (бесплатно)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1244126009"/>
                  </a:ext>
                </a:extLst>
              </a:tr>
              <a:tr h="352026">
                <a:tc>
                  <a:txBody>
                    <a:bodyPr/>
                    <a:lstStyle/>
                    <a:p>
                      <a:r>
                        <a:rPr lang="ru-RU" sz="1200" b="1"/>
                        <a:t>Стоимость для клиента</a:t>
                      </a:r>
                      <a:endParaRPr lang="ru-RU" sz="120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Низкая (~100 руб. за пакет)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Средняя (от 300 руб.)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Высокая (от 500 руб.)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Очень высокая (от 1500 руб.)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Бесплатно или символически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2452242638"/>
                  </a:ext>
                </a:extLst>
              </a:tr>
              <a:tr h="352026">
                <a:tc>
                  <a:txBody>
                    <a:bodyPr/>
                    <a:lstStyle/>
                    <a:p>
                      <a:r>
                        <a:rPr lang="ru-RU" sz="1200" b="1"/>
                        <a:t>Комиссия платформы</a:t>
                      </a:r>
                      <a:endParaRPr lang="ru-RU" sz="120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20% с заказа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Не применимо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Не применимо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Не применимо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Отсутствует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2518956855"/>
                  </a:ext>
                </a:extLst>
              </a:tr>
              <a:tr h="371882">
                <a:tc>
                  <a:txBody>
                    <a:bodyPr/>
                    <a:lstStyle/>
                    <a:p>
                      <a:r>
                        <a:rPr lang="ru-RU" sz="1200" b="1"/>
                        <a:t>Скорость выполнения</a:t>
                      </a:r>
                      <a:endParaRPr lang="ru-RU" sz="120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Мгновенно (исполнитель в доме)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1–3 часа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По расписанию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Долго (под заказ)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Зависит от волонтёров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206686353"/>
                  </a:ext>
                </a:extLst>
              </a:tr>
              <a:tr h="514463">
                <a:tc>
                  <a:txBody>
                    <a:bodyPr/>
                    <a:lstStyle/>
                    <a:p>
                      <a:r>
                        <a:rPr lang="ru-RU" sz="1200" b="1"/>
                        <a:t>Мобильное приложение</a:t>
                      </a:r>
                      <a:endParaRPr lang="ru-RU" sz="120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Telegram-</a:t>
                      </a:r>
                      <a:r>
                        <a:rPr lang="ru-RU" sz="1200"/>
                        <a:t>бот (кросс-платформа)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Собственное мобильное приложение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Собственное приложение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Веб-портал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Чаты в соцсетях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2044330173"/>
                  </a:ext>
                </a:extLst>
              </a:tr>
              <a:tr h="352026">
                <a:tc>
                  <a:txBody>
                    <a:bodyPr/>
                    <a:lstStyle/>
                    <a:p>
                      <a:r>
                        <a:rPr lang="ru-RU" sz="1200" b="1"/>
                        <a:t>Главное УТП</a:t>
                      </a:r>
                      <a:endParaRPr lang="ru-RU" sz="120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Самая низкая цена + мгновенность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Широкая география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Юридическая чистота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Работа с крупными объёмами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Экологическая миссия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3227704977"/>
                  </a:ext>
                </a:extLst>
              </a:tr>
              <a:tr h="514463">
                <a:tc>
                  <a:txBody>
                    <a:bodyPr/>
                    <a:lstStyle/>
                    <a:p>
                      <a:r>
                        <a:rPr lang="ru-RU" sz="1200" b="1"/>
                        <a:t>Юридические риски</a:t>
                      </a:r>
                      <a:endParaRPr lang="ru-RU" sz="120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Средние (детский труд, ответственность)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Минимальные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Минимальные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Средние (лицензии на отходы)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Низкие (некоммерческий статус)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1554636659"/>
                  </a:ext>
                </a:extLst>
              </a:tr>
              <a:tr h="514463">
                <a:tc>
                  <a:txBody>
                    <a:bodyPr/>
                    <a:lstStyle/>
                    <a:p>
                      <a:r>
                        <a:rPr lang="ru-RU" sz="1200" b="1"/>
                        <a:t>Потенциал масштабирования</a:t>
                      </a:r>
                      <a:endParaRPr lang="ru-RU" sz="1200"/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Высокий (эффект сети, низкий порог входа)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Средний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Низкий (высокие издержки)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/>
                        <a:t>Низкий (</a:t>
                      </a:r>
                      <a:r>
                        <a:rPr lang="en-US" sz="1200"/>
                        <a:t>B2B)</a:t>
                      </a:r>
                    </a:p>
                  </a:txBody>
                  <a:tcPr marL="35667" marR="35667" marT="17833" marB="17833"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Низкий (нет дохода)</a:t>
                      </a:r>
                    </a:p>
                  </a:txBody>
                  <a:tcPr marL="35667" marR="35667" marT="17833" marB="17833" anchor="ctr"/>
                </a:tc>
                <a:extLst>
                  <a:ext uri="{0D108BD9-81ED-4DB2-BD59-A6C34878D82A}">
                    <a16:rowId xmlns:a16="http://schemas.microsoft.com/office/drawing/2014/main" val="10556644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75975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25C8EF-DBB8-F620-E011-2D0644E1A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SWOT </a:t>
            </a:r>
            <a:r>
              <a:rPr lang="ru-RU" dirty="0"/>
              <a:t>анализ</a:t>
            </a:r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77B037AF-26CF-0F39-C5CB-A350CEB7F15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9562898"/>
              </p:ext>
            </p:extLst>
          </p:nvPr>
        </p:nvGraphicFramePr>
        <p:xfrm>
          <a:off x="838199" y="1377755"/>
          <a:ext cx="10787744" cy="5117914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5393872">
                  <a:extLst>
                    <a:ext uri="{9D8B030D-6E8A-4147-A177-3AD203B41FA5}">
                      <a16:colId xmlns:a16="http://schemas.microsoft.com/office/drawing/2014/main" val="1403355990"/>
                    </a:ext>
                  </a:extLst>
                </a:gridCol>
                <a:gridCol w="5393872">
                  <a:extLst>
                    <a:ext uri="{9D8B030D-6E8A-4147-A177-3AD203B41FA5}">
                      <a16:colId xmlns:a16="http://schemas.microsoft.com/office/drawing/2014/main" val="3193626485"/>
                    </a:ext>
                  </a:extLst>
                </a:gridCol>
              </a:tblGrid>
              <a:tr h="269217">
                <a:tc>
                  <a:txBody>
                    <a:bodyPr/>
                    <a:lstStyle/>
                    <a:p>
                      <a:r>
                        <a:rPr lang="ru-RU" sz="1400" b="1" dirty="0"/>
                        <a:t>Сильные стороны </a:t>
                      </a:r>
                      <a:endParaRPr lang="en-US" sz="1400" dirty="0"/>
                    </a:p>
                  </a:txBody>
                  <a:tcPr marL="57254" marR="57254" marT="28627" marB="28627" anchor="ctr"/>
                </a:tc>
                <a:tc>
                  <a:txBody>
                    <a:bodyPr/>
                    <a:lstStyle/>
                    <a:p>
                      <a:r>
                        <a:rPr lang="ru-RU" sz="1400" b="1" dirty="0"/>
                        <a:t>Слабые стороны </a:t>
                      </a:r>
                      <a:endParaRPr lang="en-US" sz="1400" dirty="0"/>
                    </a:p>
                  </a:txBody>
                  <a:tcPr marL="57254" marR="57254" marT="28627" marB="28627" anchor="ctr"/>
                </a:tc>
                <a:extLst>
                  <a:ext uri="{0D108BD9-81ED-4DB2-BD59-A6C34878D82A}">
                    <a16:rowId xmlns:a16="http://schemas.microsoft.com/office/drawing/2014/main" val="337089865"/>
                  </a:ext>
                </a:extLst>
              </a:tr>
              <a:tr h="2086431">
                <a:tc>
                  <a:txBody>
                    <a:bodyPr/>
                    <a:lstStyle/>
                    <a:p>
                      <a:r>
                        <a:rPr lang="ru-RU" sz="1400"/>
                        <a:t>Самая низкая цена на рынке (≈100 руб. за пакет)</a:t>
                      </a:r>
                      <a:br>
                        <a:rPr lang="ru-RU" sz="1400"/>
                      </a:br>
                      <a:r>
                        <a:rPr lang="ru-RU" sz="1400"/>
                        <a:t>Мгновенное выполнение – исполнитель в том же доме/подъезде</a:t>
                      </a:r>
                      <a:br>
                        <a:rPr lang="ru-RU" sz="1400"/>
                      </a:br>
                      <a:r>
                        <a:rPr lang="ru-RU" sz="1400"/>
                        <a:t>Минимальные затраты на запуск и ежемесячное обслуживание (Telegram‑бот, VPN)</a:t>
                      </a:r>
                      <a:br>
                        <a:rPr lang="ru-RU" sz="1400"/>
                      </a:br>
                      <a:r>
                        <a:rPr lang="ru-RU" sz="1400"/>
                        <a:t>Прозрачная комиссия 20%</a:t>
                      </a:r>
                      <a:br>
                        <a:rPr lang="ru-RU" sz="1400"/>
                      </a:br>
                      <a:r>
                        <a:rPr lang="ru-RU" sz="1400"/>
                        <a:t>Простая логистика – не нужен автопарк или штатные курьеры</a:t>
                      </a:r>
                      <a:br>
                        <a:rPr lang="ru-RU" sz="1400"/>
                      </a:br>
                      <a:r>
                        <a:rPr lang="ru-RU" sz="1400"/>
                        <a:t>Высокая маржинальность при масштабировании</a:t>
                      </a:r>
                    </a:p>
                  </a:txBody>
                  <a:tcPr marL="57254" marR="57254" marT="28627" marB="28627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Зависимость от добросовестности и пунктуальности школьников</a:t>
                      </a:r>
                      <a:br>
                        <a:rPr lang="ru-RU" sz="1400" dirty="0"/>
                      </a:br>
                      <a:r>
                        <a:rPr lang="ru-RU" sz="1400" dirty="0"/>
                        <a:t>Работает только в светлое время суток и с учётом занятости детей</a:t>
                      </a:r>
                      <a:br>
                        <a:rPr lang="ru-RU" sz="1400" dirty="0"/>
                      </a:br>
                      <a:r>
                        <a:rPr lang="ru-RU" sz="1400" dirty="0"/>
                        <a:t>Нет собственного юридического лица или договоров страхования (на старте)</a:t>
                      </a:r>
                      <a:br>
                        <a:rPr lang="ru-RU" sz="1400" dirty="0"/>
                      </a:br>
                      <a:r>
                        <a:rPr lang="ru-RU" sz="1400" dirty="0"/>
                        <a:t>Ограниченная география – только густонаселённые районы (пока)</a:t>
                      </a:r>
                      <a:br>
                        <a:rPr lang="ru-RU" sz="1400" dirty="0"/>
                      </a:br>
                      <a:r>
                        <a:rPr lang="ru-RU" sz="1400" dirty="0"/>
                        <a:t>Зависимость от </a:t>
                      </a:r>
                      <a:r>
                        <a:rPr lang="ru-RU" sz="1400" dirty="0" err="1"/>
                        <a:t>Telegram</a:t>
                      </a:r>
                      <a:r>
                        <a:rPr lang="ru-RU" sz="1400" dirty="0"/>
                        <a:t> и его доступности в РФ</a:t>
                      </a:r>
                    </a:p>
                  </a:txBody>
                  <a:tcPr marL="57254" marR="57254" marT="28627" marB="28627" anchor="ctr"/>
                </a:tc>
                <a:extLst>
                  <a:ext uri="{0D108BD9-81ED-4DB2-BD59-A6C34878D82A}">
                    <a16:rowId xmlns:a16="http://schemas.microsoft.com/office/drawing/2014/main" val="3775323253"/>
                  </a:ext>
                </a:extLst>
              </a:tr>
              <a:tr h="269217">
                <a:tc>
                  <a:txBody>
                    <a:bodyPr/>
                    <a:lstStyle/>
                    <a:p>
                      <a:r>
                        <a:rPr lang="ru-RU" sz="1400" b="1" dirty="0"/>
                        <a:t>Возможности</a:t>
                      </a:r>
                      <a:endParaRPr lang="en-US" sz="1400" dirty="0"/>
                    </a:p>
                  </a:txBody>
                  <a:tcPr marL="57254" marR="57254" marT="28627" marB="28627" anchor="ctr"/>
                </a:tc>
                <a:tc>
                  <a:txBody>
                    <a:bodyPr/>
                    <a:lstStyle/>
                    <a:p>
                      <a:r>
                        <a:rPr lang="ru-RU" sz="1400" b="1" dirty="0"/>
                        <a:t>Угрозы</a:t>
                      </a:r>
                      <a:endParaRPr lang="en-US" sz="1400" dirty="0"/>
                    </a:p>
                  </a:txBody>
                  <a:tcPr marL="57254" marR="57254" marT="28627" marB="28627" anchor="ctr"/>
                </a:tc>
                <a:extLst>
                  <a:ext uri="{0D108BD9-81ED-4DB2-BD59-A6C34878D82A}">
                    <a16:rowId xmlns:a16="http://schemas.microsoft.com/office/drawing/2014/main" val="1426591634"/>
                  </a:ext>
                </a:extLst>
              </a:tr>
              <a:tr h="2490255">
                <a:tc>
                  <a:txBody>
                    <a:bodyPr/>
                    <a:lstStyle/>
                    <a:p>
                      <a:r>
                        <a:rPr lang="ru-RU" sz="1400"/>
                        <a:t>Сезонный пик летом – каникулы + отпуска + ремонты</a:t>
                      </a:r>
                      <a:br>
                        <a:rPr lang="ru-RU" sz="1400"/>
                      </a:br>
                      <a:r>
                        <a:rPr lang="ru-RU" sz="1400"/>
                        <a:t>Партнёрство с УК – включить услугу в квитанцию ЖКХ</a:t>
                      </a:r>
                      <a:br>
                        <a:rPr lang="ru-RU" sz="1400"/>
                      </a:br>
                      <a:r>
                        <a:rPr lang="ru-RU" sz="1400"/>
                        <a:t>Расширение линейки микрозадач (вынести сухую одежду, покормить кота и т.д.)</a:t>
                      </a:r>
                      <a:br>
                        <a:rPr lang="ru-RU" sz="1400"/>
                      </a:br>
                      <a:r>
                        <a:rPr lang="ru-RU" sz="1400"/>
                        <a:t>Создание PWA/веб-версии как запасного канала при блокировке Telegram</a:t>
                      </a:r>
                      <a:br>
                        <a:rPr lang="ru-RU" sz="1400"/>
                      </a:br>
                      <a:r>
                        <a:rPr lang="ru-RU" sz="1400"/>
                        <a:t>Выход в другие города-миллионники (низкая стоимость копирования модели)</a:t>
                      </a:r>
                      <a:br>
                        <a:rPr lang="ru-RU" sz="1400"/>
                      </a:br>
                      <a:r>
                        <a:rPr lang="ru-RU" sz="1400"/>
                        <a:t>Интеграция с домовыми чатами и районными пабликами</a:t>
                      </a:r>
                    </a:p>
                  </a:txBody>
                  <a:tcPr marL="57254" marR="57254" marT="28627" marB="28627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Юридические риски – претензии родителей или проверки детского труда</a:t>
                      </a:r>
                      <a:br>
                        <a:rPr lang="ru-RU" sz="1400" dirty="0"/>
                      </a:br>
                      <a:r>
                        <a:rPr lang="ru-RU" sz="1400" dirty="0"/>
                        <a:t>Блокировка </a:t>
                      </a:r>
                      <a:r>
                        <a:rPr lang="ru-RU" sz="1400" dirty="0" err="1"/>
                        <a:t>Telegram</a:t>
                      </a:r>
                      <a:r>
                        <a:rPr lang="ru-RU" sz="1400" dirty="0"/>
                        <a:t> в России – угроза доступности сервиса</a:t>
                      </a:r>
                      <a:br>
                        <a:rPr lang="ru-RU" sz="1400" dirty="0"/>
                      </a:br>
                      <a:r>
                        <a:rPr lang="ru-RU" sz="1400" dirty="0"/>
                        <a:t>Негативный инцидент (кража, потеря пакета) – удар по репутации</a:t>
                      </a:r>
                      <a:br>
                        <a:rPr lang="ru-RU" sz="1400" dirty="0"/>
                      </a:br>
                      <a:r>
                        <a:rPr lang="ru-RU" sz="1400" dirty="0"/>
                        <a:t>Появление конкурента с похожей моделью (школьники + </a:t>
                      </a:r>
                      <a:r>
                        <a:rPr lang="ru-RU" sz="1400" dirty="0" err="1"/>
                        <a:t>микрозаказы</a:t>
                      </a:r>
                      <a:r>
                        <a:rPr lang="ru-RU" sz="1400" dirty="0"/>
                        <a:t>)</a:t>
                      </a:r>
                      <a:br>
                        <a:rPr lang="ru-RU" sz="1400" dirty="0"/>
                      </a:br>
                      <a:r>
                        <a:rPr lang="ru-RU" sz="1400" dirty="0"/>
                        <a:t>Низкий спрос при недостаточном маркетинге</a:t>
                      </a:r>
                      <a:br>
                        <a:rPr lang="ru-RU" sz="1400" dirty="0"/>
                      </a:br>
                      <a:r>
                        <a:rPr lang="ru-RU" sz="1400" dirty="0"/>
                        <a:t>Сезонный спад осенью/зимой (школьники заняты учёбой)</a:t>
                      </a:r>
                    </a:p>
                  </a:txBody>
                  <a:tcPr marL="57254" marR="57254" marT="28627" marB="28627" anchor="ctr"/>
                </a:tc>
                <a:extLst>
                  <a:ext uri="{0D108BD9-81ED-4DB2-BD59-A6C34878D82A}">
                    <a16:rowId xmlns:a16="http://schemas.microsoft.com/office/drawing/2014/main" val="3484062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25534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55A8FA9-6410-C6B5-4F0D-C9A483F20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Таблица рисков</a:t>
            </a:r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D201C51D-84CB-71E9-CDC4-DEB6BA70873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43013327"/>
              </p:ext>
            </p:extLst>
          </p:nvPr>
        </p:nvGraphicFramePr>
        <p:xfrm>
          <a:off x="1035698" y="1505124"/>
          <a:ext cx="10086390" cy="419986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017278">
                  <a:extLst>
                    <a:ext uri="{9D8B030D-6E8A-4147-A177-3AD203B41FA5}">
                      <a16:colId xmlns:a16="http://schemas.microsoft.com/office/drawing/2014/main" val="756332810"/>
                    </a:ext>
                  </a:extLst>
                </a:gridCol>
                <a:gridCol w="2017278">
                  <a:extLst>
                    <a:ext uri="{9D8B030D-6E8A-4147-A177-3AD203B41FA5}">
                      <a16:colId xmlns:a16="http://schemas.microsoft.com/office/drawing/2014/main" val="2406187434"/>
                    </a:ext>
                  </a:extLst>
                </a:gridCol>
                <a:gridCol w="2017278">
                  <a:extLst>
                    <a:ext uri="{9D8B030D-6E8A-4147-A177-3AD203B41FA5}">
                      <a16:colId xmlns:a16="http://schemas.microsoft.com/office/drawing/2014/main" val="1166526334"/>
                    </a:ext>
                  </a:extLst>
                </a:gridCol>
                <a:gridCol w="2017278">
                  <a:extLst>
                    <a:ext uri="{9D8B030D-6E8A-4147-A177-3AD203B41FA5}">
                      <a16:colId xmlns:a16="http://schemas.microsoft.com/office/drawing/2014/main" val="4117564913"/>
                    </a:ext>
                  </a:extLst>
                </a:gridCol>
                <a:gridCol w="2017278">
                  <a:extLst>
                    <a:ext uri="{9D8B030D-6E8A-4147-A177-3AD203B41FA5}">
                      <a16:colId xmlns:a16="http://schemas.microsoft.com/office/drawing/2014/main" val="3188962569"/>
                    </a:ext>
                  </a:extLst>
                </a:gridCol>
              </a:tblGrid>
              <a:tr h="256695">
                <a:tc>
                  <a:txBody>
                    <a:bodyPr/>
                    <a:lstStyle/>
                    <a:p>
                      <a:r>
                        <a:rPr lang="ru-RU" sz="1400" b="1"/>
                        <a:t>Категория риска</a:t>
                      </a:r>
                      <a:endParaRPr lang="ru-RU" sz="1400"/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400" b="1"/>
                        <a:t>Описание риска</a:t>
                      </a:r>
                      <a:endParaRPr lang="ru-RU" sz="1400"/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400" b="1"/>
                        <a:t>Вероятность</a:t>
                      </a:r>
                      <a:endParaRPr lang="ru-RU" sz="1400"/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400" b="1" dirty="0"/>
                        <a:t>Влияние на бизнес</a:t>
                      </a:r>
                      <a:endParaRPr lang="ru-RU" sz="1400" dirty="0"/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400" b="1"/>
                        <a:t>Стратегия минимизации</a:t>
                      </a:r>
                      <a:endParaRPr lang="ru-RU" sz="1400"/>
                    </a:p>
                  </a:txBody>
                  <a:tcPr marL="29204" marR="29204" marT="14602" marB="14602" anchor="ctr"/>
                </a:tc>
                <a:extLst>
                  <a:ext uri="{0D108BD9-81ED-4DB2-BD59-A6C34878D82A}">
                    <a16:rowId xmlns:a16="http://schemas.microsoft.com/office/drawing/2014/main" val="382656774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400" b="1"/>
                        <a:t>Юридический</a:t>
                      </a:r>
                      <a:endParaRPr lang="ru-RU" sz="1400"/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Претензии со стороны родителей школьников или регулирующих органов по поводу детского труда.</a:t>
                      </a:r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Средняя</a:t>
                      </a:r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Высокое (вплоть до блокировки)</a:t>
                      </a:r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400" b="0" dirty="0"/>
                        <a:t>Добавить раздел в пользовательское соглашение с отказом от ответственности. </a:t>
                      </a:r>
                    </a:p>
                  </a:txBody>
                  <a:tcPr marL="29204" marR="29204" marT="14602" marB="14602" anchor="ctr"/>
                </a:tc>
                <a:extLst>
                  <a:ext uri="{0D108BD9-81ED-4DB2-BD59-A6C34878D82A}">
                    <a16:rowId xmlns:a16="http://schemas.microsoft.com/office/drawing/2014/main" val="1217503295"/>
                  </a:ext>
                </a:extLst>
              </a:tr>
              <a:tr h="522212">
                <a:tc>
                  <a:txBody>
                    <a:bodyPr/>
                    <a:lstStyle/>
                    <a:p>
                      <a:r>
                        <a:rPr lang="ru-RU" sz="1400" b="1"/>
                        <a:t>Операционный</a:t>
                      </a:r>
                      <a:endParaRPr lang="ru-RU" sz="1400"/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Школьник не вышел на заказ или украл пакет с ценными вещами.</a:t>
                      </a:r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Низкая</a:t>
                      </a:r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Среднее (репутационные потери)</a:t>
                      </a:r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400" b="0" dirty="0"/>
                        <a:t>Двойная система верификации. Внедрить рейтинг исполнителей.</a:t>
                      </a:r>
                    </a:p>
                  </a:txBody>
                  <a:tcPr marL="29204" marR="29204" marT="14602" marB="14602" anchor="ctr"/>
                </a:tc>
                <a:extLst>
                  <a:ext uri="{0D108BD9-81ED-4DB2-BD59-A6C34878D82A}">
                    <a16:rowId xmlns:a16="http://schemas.microsoft.com/office/drawing/2014/main" val="4191019831"/>
                  </a:ext>
                </a:extLst>
              </a:tr>
              <a:tr h="119748">
                <a:tc>
                  <a:txBody>
                    <a:bodyPr/>
                    <a:lstStyle/>
                    <a:p>
                      <a:r>
                        <a:rPr lang="ru-RU" sz="1400" b="1"/>
                        <a:t>Технический</a:t>
                      </a:r>
                      <a:endParaRPr lang="ru-RU" sz="1400"/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Блокировка </a:t>
                      </a:r>
                      <a:r>
                        <a:rPr lang="ru-RU" sz="1400" dirty="0" err="1"/>
                        <a:t>Telegram</a:t>
                      </a:r>
                      <a:r>
                        <a:rPr lang="ru-RU" sz="1400" dirty="0"/>
                        <a:t> в России и сложности с хостингом.</a:t>
                      </a:r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Высокая (уже)</a:t>
                      </a:r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Высокое (сервис станет недоступен)</a:t>
                      </a:r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Использование </a:t>
                      </a:r>
                      <a:r>
                        <a:rPr lang="en-US" sz="1400" dirty="0"/>
                        <a:t>VPN</a:t>
                      </a:r>
                      <a:r>
                        <a:rPr lang="ru-RU" sz="1400" dirty="0"/>
                        <a:t> для хостинга</a:t>
                      </a:r>
                      <a:r>
                        <a:rPr lang="en-US" sz="1400" dirty="0"/>
                        <a:t> </a:t>
                      </a:r>
                      <a:endParaRPr lang="ru-RU" sz="1400" dirty="0"/>
                    </a:p>
                  </a:txBody>
                  <a:tcPr marL="29204" marR="29204" marT="14602" marB="14602" anchor="ctr"/>
                </a:tc>
                <a:extLst>
                  <a:ext uri="{0D108BD9-81ED-4DB2-BD59-A6C34878D82A}">
                    <a16:rowId xmlns:a16="http://schemas.microsoft.com/office/drawing/2014/main" val="592635430"/>
                  </a:ext>
                </a:extLst>
              </a:tr>
              <a:tr h="1087929">
                <a:tc>
                  <a:txBody>
                    <a:bodyPr/>
                    <a:lstStyle/>
                    <a:p>
                      <a:r>
                        <a:rPr lang="ru-RU" sz="1400" b="1"/>
                        <a:t>Рыночный</a:t>
                      </a:r>
                      <a:endParaRPr lang="ru-RU" sz="1400"/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Отсутствие спроса или появление сильного конкурента с таким же УТП.</a:t>
                      </a:r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Низкая</a:t>
                      </a:r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Среднее</a:t>
                      </a:r>
                    </a:p>
                  </a:txBody>
                  <a:tcPr marL="29204" marR="29204" marT="14602" marB="14602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начать с 2-3 густонаселённых спальных районов, стать там монополистом, прежде чем расширяться.</a:t>
                      </a:r>
                    </a:p>
                  </a:txBody>
                  <a:tcPr marL="29204" marR="29204" marT="14602" marB="14602" anchor="ctr"/>
                </a:tc>
                <a:extLst>
                  <a:ext uri="{0D108BD9-81ED-4DB2-BD59-A6C34878D82A}">
                    <a16:rowId xmlns:a16="http://schemas.microsoft.com/office/drawing/2014/main" val="38366569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1160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7342DC8B-EE67-6434-593A-ED4326253C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2350" y="1825625"/>
            <a:ext cx="1057158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6600" dirty="0"/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21671001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</TotalTime>
  <Words>670</Words>
  <Application>Microsoft Office PowerPoint</Application>
  <PresentationFormat>Широкоэкранный</PresentationFormat>
  <Paragraphs>111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Тема Office</vt:lpstr>
      <vt:lpstr>TrashOut – Проект Константина Евстигнеева</vt:lpstr>
      <vt:lpstr>Что мой проект из себя представляет?</vt:lpstr>
      <vt:lpstr>Экономическая составляющая</vt:lpstr>
      <vt:lpstr>Сезонность</vt:lpstr>
      <vt:lpstr>Конкурентный анализ</vt:lpstr>
      <vt:lpstr>SWOT анализ</vt:lpstr>
      <vt:lpstr>Таблица рисков</vt:lpstr>
      <vt:lpstr>Презентация PowerPoint</vt:lpstr>
    </vt:vector>
  </TitlesOfParts>
  <Company>LightKey.Store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Seab</dc:creator>
  <cp:lastModifiedBy>Seab</cp:lastModifiedBy>
  <cp:revision>5</cp:revision>
  <dcterms:created xsi:type="dcterms:W3CDTF">2026-04-23T06:48:50Z</dcterms:created>
  <dcterms:modified xsi:type="dcterms:W3CDTF">2026-04-25T09:33:53Z</dcterms:modified>
</cp:coreProperties>
</file>